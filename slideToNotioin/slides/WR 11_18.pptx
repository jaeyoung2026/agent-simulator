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8048B8-1704-4B91-BFF2-88D612E57D3D}">
  <a:tblStyle styleId="{318048B8-1704-4B91-BFF2-88D612E57D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9bb51b46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9bb51b46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47dc7745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47dc7745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9bb51b4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9bb51b4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55772634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5577263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47dc774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47dc774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-&gt; </a:t>
            </a:r>
            <a:r>
              <a:rPr lang="ko"/>
              <a:t>실패한 정책 제거</a:t>
            </a:r>
            <a:r>
              <a:rPr lang="ko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9bb51b46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9bb51b46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9bb51b46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9bb51b46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</a:rPr>
              <a:t>0.369823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9bb51b46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9bb51b46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0.641786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5772634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577263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</a:rPr>
              <a:t>0.369823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5577263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5577263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0.641786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55d031c6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55d031c6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55d031c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55d031c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0.641786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9bb51b46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9bb51b46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5667ca88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5667ca88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엔트로피 로스 증가 -&gt; 행동의 무작위 성이 증가함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5619c5e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5619c5e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5619c5ee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5619c5e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5619c5e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5619c5e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선행 연구들에 대한 수치 비교 -&gt;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2a22b97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2a22b97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2a22b97d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2a22b97d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9bb51b46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9bb51b46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a22b97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2a22b97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diff</a:t>
            </a:r>
            <a:r>
              <a:rPr lang="ko"/>
              <a:t>가 어떤 차이들을 가지는지 e-06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667ca8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5667ca8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step 별 이전과 현재, 각 항목의 diff 표시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2a22b97d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2a22b97d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 step 이후 관측값을 계산 시, 시계열 데이터를 이용해서 RNN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무조건 0만 들어온다 -&gt; 사용하지 않는 온도 (1 to 1) 입력 데이터는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"/>
              <a:t>입력 to 출력 모델을 학습 시키기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"/>
              <a:t>버피 테스트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2a22b97d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2a22b97d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따라 Adaptiv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2bd58299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2bd58299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5667ca88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5667ca88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팔만 움직인다 -&gt; 다리 mask?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actuator, 움직인 각도, 각도의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어느정도까지 걷는건가?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온도가 높다면 이렇게라도 움직여야한다.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지금 random한 command이니,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기존ㄴ Toddlerbot reward + 추가한거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모터들 온도 -&gt; reward에 따른 weight를 재조정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+"/>
            </a:pPr>
            <a:r>
              <a:rPr lang="ko"/>
              <a:t>온도에 따른 reward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휴머노이드에 없었고,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2025-11-18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Nov 17,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Index.</a:t>
            </a:r>
            <a:endParaRPr b="1" i="1" sz="25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Reward 2 학습 결과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stress test (high temp.)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문제 분석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Reward 2 결과</a:t>
            </a:r>
            <a:endParaRPr b="1" sz="3000"/>
          </a:p>
        </p:txBody>
      </p:sp>
      <p:sp>
        <p:nvSpPr>
          <p:cNvPr id="78" name="Google Shape;78;p15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Reward 2, warm up</a:t>
            </a:r>
            <a:endParaRPr b="1" i="1" sz="2500"/>
          </a:p>
        </p:txBody>
      </p:sp>
      <p:sp>
        <p:nvSpPr>
          <p:cNvPr id="87" name="Google Shape;87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RBF(Radial Basis Function)을 이용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1F1F1F"/>
                </a:solidFill>
                <a:highlight>
                  <a:srgbClr val="FFFFFF"/>
                </a:highlight>
              </a:rPr>
              <a:t>μ 평균값, </a:t>
            </a:r>
            <a:r>
              <a:rPr lang="ko" sz="1800">
                <a:solidFill>
                  <a:srgbClr val="212529"/>
                </a:solidFill>
                <a:highlight>
                  <a:srgbClr val="FFFFFF"/>
                </a:highlight>
              </a:rPr>
              <a:t>σ의 편차를 가짐</a:t>
            </a:r>
            <a:endParaRPr sz="18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-"/>
            </a:pPr>
            <a:r>
              <a:rPr lang="ko" sz="1800">
                <a:solidFill>
                  <a:srgbClr val="1F1F1F"/>
                </a:solidFill>
                <a:highlight>
                  <a:schemeClr val="lt1"/>
                </a:highlight>
              </a:rPr>
              <a:t>v가 μ일 때, 최대의 보상을 가짐</a:t>
            </a:r>
            <a:endParaRPr sz="18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-"/>
            </a:pPr>
            <a:r>
              <a:rPr lang="ko" sz="1800">
                <a:solidFill>
                  <a:srgbClr val="212529"/>
                </a:solidFill>
                <a:highlight>
                  <a:srgbClr val="FFFFFF"/>
                </a:highlight>
              </a:rPr>
              <a:t>개별 actuator에 따라 계산 후, 평균으로 reward 계산</a:t>
            </a:r>
            <a:endParaRPr sz="18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Reward 2, warm_up</a:t>
            </a:r>
            <a:endParaRPr b="1" i="1" sz="2500"/>
          </a:p>
        </p:txBody>
      </p:sp>
      <p:sp>
        <p:nvSpPr>
          <p:cNvPr id="97" name="Google Shape;97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5950" y="1300025"/>
            <a:ext cx="5539702" cy="34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Reward 2, </a:t>
            </a:r>
            <a:r>
              <a:rPr b="1" lang="ko" sz="2500"/>
              <a:t>실험 환경</a:t>
            </a:r>
            <a:endParaRPr b="1" i="1" sz="2500"/>
          </a:p>
        </p:txBody>
      </p:sp>
      <p:sp>
        <p:nvSpPr>
          <p:cNvPr id="107" name="Google Shape;107;p1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3000 steps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모두 동일한 환경에서 실험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</a:t>
            </a:r>
            <a:r>
              <a:rPr b="1" lang="ko" sz="2500"/>
              <a:t>19456000</a:t>
            </a:r>
            <a:r>
              <a:rPr b="1" lang="ko" sz="2500"/>
              <a:t> steps)</a:t>
            </a:r>
            <a:endParaRPr b="1" i="1" sz="2500"/>
          </a:p>
        </p:txBody>
      </p:sp>
      <p:sp>
        <p:nvSpPr>
          <p:cNvPr id="117" name="Google Shape;117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21" name="Google Shape;121;p19"/>
          <p:cNvGraphicFramePr/>
          <p:nvPr/>
        </p:nvGraphicFramePr>
        <p:xfrm>
          <a:off x="1496525" y="131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878925"/>
                <a:gridCol w="1957200"/>
                <a:gridCol w="1957200"/>
              </a:tblGrid>
              <a:tr h="424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/>
                        <a:t>Model Name</a:t>
                      </a:r>
                      <a:endParaRPr b="1" sz="15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/>
                        <a:t>Total Reward</a:t>
                      </a:r>
                      <a:endParaRPr b="1" sz="15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/>
                        <a:t>Max Temp.</a:t>
                      </a:r>
                      <a:endParaRPr b="1" sz="15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basic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1080.5824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31.158398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warm_up_0.01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1100.6028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31.708818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warm_up_0.05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1115.4185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30.238262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warm_up_1.0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1053.9802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33.883675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warm_up_1.5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1112.9312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31.790182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warm_up_2.0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1034.7002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35.170135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warm_up_3.0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1033.3287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33.022823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(best-policy)</a:t>
            </a:r>
            <a:endParaRPr b="1" i="1" sz="2500"/>
          </a:p>
        </p:txBody>
      </p:sp>
      <p:sp>
        <p:nvSpPr>
          <p:cNvPr id="127" name="Google Shape;127;p2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31" name="Google Shape;131;p20"/>
          <p:cNvGraphicFramePr/>
          <p:nvPr/>
        </p:nvGraphicFramePr>
        <p:xfrm>
          <a:off x="1934900" y="120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496650"/>
                <a:gridCol w="1543925"/>
                <a:gridCol w="1291850"/>
              </a:tblGrid>
              <a:tr h="39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/>
                        <a:t>Model Name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/>
                        <a:t>Total Reward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500"/>
                        <a:t>Max Temp.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basic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1083.9165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31.073833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warm_up_0.01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1091.739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31.131708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warm_up_0.03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1119.8126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31.16184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warm_up_0.05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1099.1675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30.877197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warm_up_1.0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1115.0771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30.805885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warm_up_1.5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1119.7098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32.15061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warm_up_2.0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1086.9946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31.551357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warm_up_3.0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1116.7339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30.869514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warm_up_5.0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1126.1045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30.782557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(19456000 steps, high temperature)</a:t>
            </a:r>
            <a:endParaRPr b="1" i="1" sz="2500"/>
          </a:p>
        </p:txBody>
      </p:sp>
      <p:sp>
        <p:nvSpPr>
          <p:cNvPr id="137" name="Google Shape;137;p2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41" name="Google Shape;141;p21"/>
          <p:cNvGraphicFramePr/>
          <p:nvPr/>
        </p:nvGraphicFramePr>
        <p:xfrm>
          <a:off x="757550" y="165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495300"/>
                <a:gridCol w="1495300"/>
                <a:gridCol w="1495300"/>
                <a:gridCol w="1495300"/>
                <a:gridCol w="1495300"/>
              </a:tblGrid>
              <a:tr h="37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Model Name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Total Reward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Efficiency Penalty Total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Max Temp.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max mismatch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basic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1055.2034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-2.788868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62.16949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0.7663634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warm_up_0.01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1087.5264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-3.6313362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62.000957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0.9276729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warm_up_0.05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1084.4717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-3.3918123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61.799667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1.0121328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warm_up_1.0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1079.0314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-5.481126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62.89987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1.0128225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warm_up_1.5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1084.3159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-6.839368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64.08471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1.0041485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warm_up_2.0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967.22485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-29.983704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66.67978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1.7249131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warm_up_3.0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1038.0406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-9.914801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62.581398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1.484882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(best-policy, high </a:t>
            </a:r>
            <a:r>
              <a:rPr b="1" lang="ko" sz="2500"/>
              <a:t>temperature</a:t>
            </a:r>
            <a:r>
              <a:rPr b="1" lang="ko" sz="2500"/>
              <a:t>)</a:t>
            </a:r>
            <a:endParaRPr b="1" i="1" sz="2500"/>
          </a:p>
        </p:txBody>
      </p:sp>
      <p:sp>
        <p:nvSpPr>
          <p:cNvPr id="147" name="Google Shape;147;p2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51" name="Google Shape;151;p22"/>
          <p:cNvGraphicFramePr/>
          <p:nvPr/>
        </p:nvGraphicFramePr>
        <p:xfrm>
          <a:off x="620925" y="15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487325"/>
                <a:gridCol w="1565600"/>
                <a:gridCol w="1565600"/>
                <a:gridCol w="1565600"/>
                <a:gridCol w="1565600"/>
              </a:tblGrid>
              <a:tr h="68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Model Name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Total Reward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Efficiency Penalty Total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Max Temp.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max mismatch</a:t>
                      </a:r>
                      <a:endParaRPr b="1" sz="1300"/>
                    </a:p>
                  </a:txBody>
                  <a:tcPr marT="19050" marB="19050" marR="91425" marL="9142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basic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1064.3986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-2.7847543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62.192116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0.8256412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warm_up_0.01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1061.6897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-3.6000717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61.735744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1.106198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warm_up_0.05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1066.8243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-4.276975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61.55033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1.042779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warm_up_1.0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1091.9182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-2.698572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62.02892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0.8608444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warm_up_1.5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1099.7269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-6.0728054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63.81473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0.9826889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warm_up_2.0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1090.4042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-5.369994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63.109436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0.88520324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warm_up_3.0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1092.7566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-3.818455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62.831596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1.0757443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(19456000 steps)</a:t>
            </a:r>
            <a:endParaRPr b="1" i="1" sz="2500"/>
          </a:p>
        </p:txBody>
      </p:sp>
      <p:sp>
        <p:nvSpPr>
          <p:cNvPr id="157" name="Google Shape;157;p2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61" name="Google Shape;161;p23"/>
          <p:cNvGraphicFramePr/>
          <p:nvPr/>
        </p:nvGraphicFramePr>
        <p:xfrm>
          <a:off x="683250" y="16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525000"/>
                <a:gridCol w="1525000"/>
                <a:gridCol w="1525000"/>
                <a:gridCol w="1525000"/>
                <a:gridCol w="1677500"/>
              </a:tblGrid>
              <a:tr h="60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Model Name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Total Reward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R_task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R_thermal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warm_up_reward</a:t>
                      </a:r>
                      <a:endParaRPr b="1" sz="1300"/>
                    </a:p>
                  </a:txBody>
                  <a:tcPr marT="19050" marB="19050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basic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1077.7975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1054.6805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23.116947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23.116947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warm_up_0.01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836.983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819.1508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17.832176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17.832176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warm_up_0.05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1115.1692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1091.9105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23.25872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23.25872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warm_up_1.0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1062.3273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1038.6013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23.725931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23.725931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warm_up_1.5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1111.5352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1088.1641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23.371037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23.371037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warm_up_2.0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1031.3909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1007.4038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23.98705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23.98705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warm_up_3.0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1030.2827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1006.54504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23.737669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23.737669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(best-policy)</a:t>
            </a:r>
            <a:endParaRPr b="1" i="1" sz="2500"/>
          </a:p>
        </p:txBody>
      </p:sp>
      <p:sp>
        <p:nvSpPr>
          <p:cNvPr id="167" name="Google Shape;167;p2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71" name="Google Shape;171;p24"/>
          <p:cNvGraphicFramePr/>
          <p:nvPr/>
        </p:nvGraphicFramePr>
        <p:xfrm>
          <a:off x="822975" y="16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440325"/>
                <a:gridCol w="1440325"/>
                <a:gridCol w="1440325"/>
                <a:gridCol w="1440325"/>
                <a:gridCol w="1584350"/>
              </a:tblGrid>
              <a:tr h="57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Model Name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Total Reward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R_task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R_thermal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warm_up_reward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basic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1077.2817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1054.1844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23.097246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23.097246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warm_up_0.01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362.0528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354.80295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7.249857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7.249857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warm_up_0.05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1102.5442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1079.2612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23.282982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23.282982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warm_up_1.0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1112.0039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1088.8662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23.137634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23.137634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warm_up_1.5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1127.4761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1104.1619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23.314234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23.314234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warm_up_2.0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1083.0398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1059.7119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23.327824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23.327824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warm_up_3.0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1118.1149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1095.1172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22.997704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22.997704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(19456000 steps, </a:t>
            </a:r>
            <a:r>
              <a:rPr b="1" lang="ko" sz="2500"/>
              <a:t>high temp.</a:t>
            </a:r>
            <a:r>
              <a:rPr b="1" lang="ko" sz="2500"/>
              <a:t>)</a:t>
            </a:r>
            <a:endParaRPr b="1" i="1" sz="2500"/>
          </a:p>
        </p:txBody>
      </p:sp>
      <p:sp>
        <p:nvSpPr>
          <p:cNvPr id="177" name="Google Shape;177;p2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81" name="Google Shape;181;p25"/>
          <p:cNvGraphicFramePr/>
          <p:nvPr/>
        </p:nvGraphicFramePr>
        <p:xfrm>
          <a:off x="356675" y="15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655650"/>
                <a:gridCol w="1655650"/>
                <a:gridCol w="1655650"/>
                <a:gridCol w="1655650"/>
                <a:gridCol w="1655650"/>
              </a:tblGrid>
              <a:tr h="362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Model Name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Total Reward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R_task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R_thermal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Max Temp.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basic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1058.4689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1044.5226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13.946254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62.17553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warm_up_0.01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1084.4568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1070.6073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13.849528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61.929295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warm_up_0.05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1083.1014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1069.321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13.780391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61.836205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warm_up_1.0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1079.3967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1065.711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13.685635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62.79885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warm_up_1.5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1084.6123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1070.9094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13.702903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63.996803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warm_up_2.0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958.71545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945.6216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13.093864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66.70675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6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warm_up_3.0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1040.6782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1027.1609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13.517376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62.729107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실험 결과 (best-policy, high temp.)</a:t>
            </a:r>
            <a:endParaRPr b="1" i="1" sz="2500"/>
          </a:p>
        </p:txBody>
      </p:sp>
      <p:sp>
        <p:nvSpPr>
          <p:cNvPr id="187" name="Google Shape;187;p2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graphicFrame>
        <p:nvGraphicFramePr>
          <p:cNvPr id="191" name="Google Shape;191;p26"/>
          <p:cNvGraphicFramePr/>
          <p:nvPr/>
        </p:nvGraphicFramePr>
        <p:xfrm>
          <a:off x="613300" y="139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{318048B8-1704-4B91-BFF2-88D612E57D3D}</a:tableStyleId>
              </a:tblPr>
              <a:tblGrid>
                <a:gridCol w="1519500"/>
                <a:gridCol w="1599475"/>
                <a:gridCol w="1599475"/>
                <a:gridCol w="1599475"/>
                <a:gridCol w="1599475"/>
              </a:tblGrid>
              <a:tr h="42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Model Name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Total Reward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R_task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R_thermal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Max Temp.</a:t>
                      </a:r>
                      <a:endParaRPr b="1"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basic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1064.2637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1050.3188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13.944777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62.173233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warm_up_0.01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1067.7703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1054.1096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13.660614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61.75891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warm_up_0.05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1067.087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1053.426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13.661001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61.606438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warm_up_1.0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1089.4774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1075.604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13.873471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62.110577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warm_up_1.5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1101.9817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1088.23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13.751657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63.850952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warm_up_2.0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1092.0765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1078.381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13.6955185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63.057175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warm_up_3.0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1091.5607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1077.6233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13.937423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62.858253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Conclusion</a:t>
            </a:r>
            <a:endParaRPr b="1" i="1" sz="2500"/>
          </a:p>
        </p:txBody>
      </p:sp>
      <p:sp>
        <p:nvSpPr>
          <p:cNvPr id="197" name="Google Shape;197;p2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0.05~1.0 세분화해서 다시 학습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warm_up이 0.05일 때, 목표로 했던 낮은 온도 달성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basic이랑 비교시..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last checkout: 0.36, best: 0.54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기존 패널티 항만 있었을 때, 불가능 했던 학습이 가능해 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둘의 최적의 하이퍼 파라미터를 찾아야함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But…</a:t>
            </a:r>
            <a:endParaRPr b="1" i="1" sz="2500"/>
          </a:p>
        </p:txBody>
      </p:sp>
      <p:sp>
        <p:nvSpPr>
          <p:cNvPr id="207" name="Google Shape;207;p2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5850" y="1282025"/>
            <a:ext cx="5339354" cy="34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stress test</a:t>
            </a:r>
            <a:endParaRPr b="1" sz="3000"/>
          </a:p>
        </p:txBody>
      </p:sp>
      <p:sp>
        <p:nvSpPr>
          <p:cNvPr id="217" name="Google Shape;217;p29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Env.</a:t>
            </a:r>
            <a:endParaRPr b="1" i="1" sz="2500"/>
          </a:p>
        </p:txBody>
      </p:sp>
      <p:sp>
        <p:nvSpPr>
          <p:cNvPr id="226" name="Google Shape;226;p3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초기 시작 온도: 67.8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seed: 0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basic이랑 warm up 0.05와 비교실험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Result.</a:t>
            </a:r>
            <a:endParaRPr b="1" i="1" sz="2500"/>
          </a:p>
        </p:txBody>
      </p:sp>
      <p:sp>
        <p:nvSpPr>
          <p:cNvPr id="236" name="Google Shape;236;p3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1"/>
                </a:highlight>
              </a:rPr>
              <a:t>	19000000 policy						best policy</a:t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375" y="1236075"/>
            <a:ext cx="3713863" cy="331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4297" y="1236075"/>
            <a:ext cx="3563300" cy="331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문제 분석</a:t>
            </a:r>
            <a:endParaRPr b="1" sz="3000"/>
          </a:p>
        </p:txBody>
      </p:sp>
      <p:sp>
        <p:nvSpPr>
          <p:cNvPr id="248" name="Google Shape;248;p32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문제점</a:t>
            </a:r>
            <a:endParaRPr b="1" i="1" sz="2500"/>
          </a:p>
        </p:txBody>
      </p:sp>
      <p:sp>
        <p:nvSpPr>
          <p:cNvPr id="257" name="Google Shape;257;p3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Agent가 처음부터 토크 제한이 적용되는 환경에서 학습할 수 없다.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가설 1</a:t>
            </a:r>
            <a:endParaRPr b="1" i="1" sz="2500"/>
          </a:p>
        </p:txBody>
      </p:sp>
      <p:sp>
        <p:nvSpPr>
          <p:cNvPr id="267" name="Google Shape;267;p3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4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차원이 너무 크고, 잡음이 너무 많다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기존 학습 obs 값으로 들어간 값은 다음과 같다.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motor pos, vel, torso_euler etc…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이러한 값들은 매 step마다 유의미하게 변화한다.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하지만, 온도 값은 유의미하게 변화하는 데이터는 많이 없다.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Walk의 경우, leg actuator의 정보만 유의미하게 변화한다.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또한, 온도 값은 선형적으로 변화하는데, 이러한 변화가 다른 값들과 비교해서 급격하게 변화하지 않는다.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obs(step by step… 1 to 4), motor temp.</a:t>
            </a:r>
            <a:endParaRPr b="1" i="1" sz="2500"/>
          </a:p>
        </p:txBody>
      </p:sp>
      <p:sp>
        <p:nvSpPr>
          <p:cNvPr id="277" name="Google Shape;277;p3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81" name="Google Shape;28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25" y="1833800"/>
            <a:ext cx="4435775" cy="2092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261" y="1698937"/>
            <a:ext cx="3882689" cy="236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obs(step by step… 1 to 4), </a:t>
            </a:r>
            <a:r>
              <a:rPr b="1" lang="ko" sz="2500"/>
              <a:t>torso_ang_vel, torso_euler</a:t>
            </a:r>
            <a:endParaRPr b="1" i="1" sz="2500"/>
          </a:p>
        </p:txBody>
      </p:sp>
      <p:sp>
        <p:nvSpPr>
          <p:cNvPr id="288" name="Google Shape;288;p3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92" name="Google Shape;2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" y="1792550"/>
            <a:ext cx="805815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가설 1 -&gt; TODO</a:t>
            </a:r>
            <a:endParaRPr b="1" i="1" sz="2500"/>
          </a:p>
        </p:txBody>
      </p:sp>
      <p:sp>
        <p:nvSpPr>
          <p:cNvPr id="298" name="Google Shape;298;p3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그렇다면, Agent의 obs로 온도 값이 없더라도 외란에 대응할 수 있지 않을까?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-&gt; 이전 obs + 토크 제한 환경에서의 학습 진행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차원이 크다면, 온도 정보를 각 파트별(팔1, 2, 다리 1, 2) (평균온도, 편차)로 obs 값을 주면 되지 않을까?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-&gt; 온도 값을 leg, arm 등 mask를 씌워 평균온도, 편차 계산 후 obs 제공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Encoder-Decoder 신경망을 학습해, embedding v로 압축하면 되지 않을까?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-&gt; 학습 전 RNN 모델 학습 / step 이후 obs 계산시, RNN*을 통해 v 도출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가설 2</a:t>
            </a:r>
            <a:endParaRPr b="1" i="1" sz="2500"/>
          </a:p>
        </p:txBody>
      </p:sp>
      <p:sp>
        <p:nvSpPr>
          <p:cNvPr id="308" name="Google Shape;308;p3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8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토크 제한 환경이 복잡하다 - 1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온도 데이터가 추가된 obs에서도 잘 학습하는 걸 확인할 수 있었다.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		-&gt; 온도 데이터 관측, 제한은 없음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다만, 토크 제한 환경에서 정책이 무너지는 모습을 볼 수 있다.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그럼 실제 토크에 따른 제한을 적용하는 것이 아닌, 계산된 토크에서 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penalty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 부여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-&gt; mismatch를 줄일 수 있을까?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		-&gt; 처음부터 온도에 따른 penalty 부여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가설 정리</a:t>
            </a:r>
            <a:endParaRPr b="1" i="1" sz="2500"/>
          </a:p>
        </p:txBody>
      </p:sp>
      <p:sp>
        <p:nvSpPr>
          <p:cNvPr id="318" name="Google Shape;318;p3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개별 실험 방안 - 1(토크 제한 환경에서…)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기존 Obs + 토크 제한 환경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30 -&gt; 15개로 차원 축소한 Obs + 토크 제한 환경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RNN Encoder 결합한 Obs + 토크 제한 환경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개별 실험 방안 - 2(기본 환경에서…)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기존 Obs + Thermal 항 추가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TODO</a:t>
            </a:r>
            <a:endParaRPr b="1" i="1" sz="2500"/>
          </a:p>
        </p:txBody>
      </p:sp>
      <p:sp>
        <p:nvSpPr>
          <p:cNvPr id="328" name="Google Shape;328;p4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/>
          <p:nvPr/>
        </p:nvSpPr>
        <p:spPr>
          <a:xfrm>
            <a:off x="245225" y="1147625"/>
            <a:ext cx="85206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가설에 대한 실험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 Dynamixel Controller에 온도 정보 받도록 수정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Method 고민…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