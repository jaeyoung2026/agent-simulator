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1f2f1416b3_5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1f2f1416b3_5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f2f1416b3_5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f2f1416b3_5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1f2f1416b3_5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1f2f1416b3_5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6c248a0ee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6c248a0ee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c248a0ee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6c248a0ee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c248a0ee8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6c248a0ee8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- Conda 환경 activate 시 환경 변수 자동 등록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https://stackoverflow.com/questions/46826497/conda-set-ld-library-path-for-env-only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cd /home/{username}/anaconda3/envs/{env_name}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cd /home/song200348/anaconda3/envs/toddlerbot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mkdir -p ./etc/conda/activate.d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mkdir -p ./etc/conda/deactivate.d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touch ./etc/conda/activate.d/env_vars.sh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touch ./etc/conda/deactivate.d/env_vars.sh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// ./etc/conda/activate.d/env_vars.sh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#!/bin/sh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export LD_LIBRARY_PATH=$LD_LIBRARY_PATH:/home/{username}/.mujoco/mujoco210/bin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------------------------------------------------------------------------------------------------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// touch ./etc/conda/deactivate.d/env_vars.sh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#!/bin/sh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unset LD_LIBRARY_PATH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------------------------------------------------------------------------------------------------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6c26772ddb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6c26772ddb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Conda 환경 activate 시 환경 변수 자동 등록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https://stackoverflow.com/questions/46826497/conda-set-ld-library-path-for-env-only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cd /home/{username}/anaconda3/envs/{env_name}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cd /home/song200348/anaconda3/envs/toddlerbot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mkdir -p ./etc/conda/activate.d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mkdir -p ./etc/conda/deactivate.d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touch ./etc/conda/activate.d/env_vars.sh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touch ./etc/conda/deactivate.d/env_vars.sh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// ./etc/conda/activate.d/env_vars.sh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#!/bin/sh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export LD_LIBRARY_PATH=$LD_LIBRARY_PATH:/home/{username}/.mujoco/mujoco210/bin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------------------------------------------------------------------------------------------------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// touch ./etc/conda/deactivate.d/env_vars.sh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#!/bin/sh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unset LD_LIBRARY_PATH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------------------------------------------------------------------------------------------------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6c26772ddb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6c26772ddb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Conda 환경 activate 시 환경 변수 자동 등록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https://stackoverflow.com/questions/46826497/conda-set-ld-library-path-for-env-only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cd /home/{username}/anaconda3/envs/{env_name}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cd /home/song200348/anaconda3/envs/toddlerbot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mkdir -p ./etc/conda/activate.d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mkdir -p ./etc/conda/deactivate.d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touch ./etc/conda/activate.d/env_vars.sh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touch ./etc/conda/deactivate.d/env_vars.sh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// ./etc/conda/activate.d/env_vars.sh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#!/bin/sh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export LD_LIBRARY_PATH=$LD_LIBRARY_PATH:/home/{username}/.mujoco/mujoco210/bin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------------------------------------------------------------------------------------------------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// touch ./etc/conda/deactivate.d/env_vars.sh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#!/bin/sh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unset LD_LIBRARY_PATH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------------------------------------------------------------------------------------------------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6c248a0ee8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6c248a0ee8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Conda 환경 activate 시 환경 변수 자동 등록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https://stackoverflow.com/questions/46826497/conda-set-ld-library-path-for-env-only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cd /home/{username}/anaconda3/envs/{env_name}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cd /home/song200348/anaconda3/envs/toddlerbot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mkdir -p ./etc/conda/activate.d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mkdir -p ./etc/conda/deactivate.d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touch ./etc/conda/activate.d/env_vars.sh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touch ./etc/conda/deactivate.d/env_vars.sh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// ./etc/conda/activate.d/env_vars.sh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#!/bin/sh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export LD_LIBRARY_PATH=$LD_LIBRARY_PATH:/home/{username}/.mujoco/mujoco210/bin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------------------------------------------------------------------------------------------------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// touch ./etc/conda/deactivate.d/env_vars.sh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#!/bin/sh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unset LD_LIBRARY_PATH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------------------------------------------------------------------------------------------------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6c26772ddb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6c26772ddb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6c26772ddb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6c26772ddb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6c26772ddb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6c26772ddb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Conda 환경 activate 시 환경 변수 자동 등록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https://stackoverflow.com/questions/46826497/conda-set-ld-library-path-for-env-only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cd /home/{username}/anaconda3/envs/{env_name}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cd /home/song200348/anaconda3/envs/toddlerbot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mkdir -p ./etc/conda/activate.d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mkdir -p ./etc/conda/deactivate.d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touch ./etc/conda/activate.d/env_vars.sh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touch ./etc/conda/deactivate.d/env_vars.sh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// ./etc/conda/activate.d/env_vars.sh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#!/bin/sh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export LD_LIBRARY_PATH=$LD_LIBRARY_PATH:/home/{username}/.mujoco/mujoco210/bin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------------------------------------------------------------------------------------------------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// touch ./etc/conda/deactivate.d/env_vars.sh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#!/bin/sh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unset LD_LIBRARY_PATH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------------------------------------------------------------------------------------------------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c26772ddb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c26772ddb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Conda 환경 activate 시 환경 변수 자동 등록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https://stackoverflow.com/questions/46826497/conda-set-ld-library-path-for-env-only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cd /home/{username}/anaconda3/envs/{env_name}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cd /home/song200348/anaconda3/envs/toddlerbot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mkdir -p ./etc/conda/activate.d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mkdir -p ./etc/conda/deactivate.d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touch ./etc/conda/activate.d/env_vars.sh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touch ./etc/conda/deactivate.d/env_vars.sh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// ./etc/conda/activate.d/env_vars.sh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#!/bin/sh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export LD_LIBRARY_PATH=$LD_LIBRARY_PATH:/home/{username}/.mujoco/mujoco210/bin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------------------------------------------------------------------------------------------------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// touch ./etc/conda/deactivate.d/env_vars.sh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#!/bin/sh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unset LD_LIBRARY_PATH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------------------------------------------------------------------------------------------------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6c26772ddb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6c26772ddb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6c26772ddb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6c26772ddb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6c26772ddb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6c26772ddb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6c26772ddb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6c26772ddb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6c26772ddb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6c26772ddb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92076964e734eb5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92076964e734eb5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6c26772ddb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6c26772ddb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6c26772ddb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6c26772ddb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6d614b1fd9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6d614b1fd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6d614b1fd9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6d614b1fd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6d614b1fd9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6d614b1fd9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lt1"/>
                </a:solidFill>
                <a:highlight>
                  <a:srgbClr val="0D1117"/>
                </a:highlight>
              </a:rPr>
              <a:t>MuJoCo XLA - MJX - a JAX reimplementation of the MuJoCo physics engine.</a:t>
            </a:r>
            <a:endParaRPr sz="1200">
              <a:solidFill>
                <a:schemeClr val="lt1"/>
              </a:solidFill>
              <a:highlight>
                <a:srgbClr val="0D1117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lt1"/>
                </a:solidFill>
                <a:highlight>
                  <a:srgbClr val="0D1117"/>
                </a:highlight>
              </a:rPr>
              <a:t>Generalized calculates motion in generalized coordinates using dynamics algorithms similar to MuJoCo and TDS.</a:t>
            </a:r>
            <a:endParaRPr sz="1200">
              <a:solidFill>
                <a:schemeClr val="lt1"/>
              </a:solidFill>
              <a:highlight>
                <a:srgbClr val="0D1117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lt1"/>
                </a:solidFill>
                <a:highlight>
                  <a:srgbClr val="0D1117"/>
                </a:highlight>
              </a:rPr>
              <a:t>Positional uses Position Based Dynamics, a fast but stable method of resolving joint and collision constraints.</a:t>
            </a:r>
            <a:endParaRPr sz="1200">
              <a:solidFill>
                <a:schemeClr val="lt1"/>
              </a:solidFill>
              <a:highlight>
                <a:srgbClr val="0D1117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lt1"/>
                </a:solidFill>
                <a:highlight>
                  <a:srgbClr val="0D1117"/>
                </a:highlight>
              </a:rPr>
              <a:t>Spring provides fast and cheap simulation for rapid experimentation, using simple impulse-based methods often found in video games.</a:t>
            </a:r>
            <a:endParaRPr sz="1200">
              <a:solidFill>
                <a:schemeClr val="lt1"/>
              </a:solidFill>
              <a:highlight>
                <a:srgbClr val="0D1117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highlight>
                <a:srgbClr val="0D1117"/>
              </a:highlight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92076964e734eb5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92076964e734eb5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lt1"/>
                </a:solidFill>
                <a:highlight>
                  <a:srgbClr val="0D1117"/>
                </a:highlight>
              </a:rPr>
              <a:t>adf</a:t>
            </a:r>
            <a:endParaRPr sz="1200">
              <a:solidFill>
                <a:schemeClr val="lt1"/>
              </a:solidFill>
              <a:highlight>
                <a:srgbClr val="0D1117"/>
              </a:highlight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92076964e734eb5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92076964e734eb5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lt1"/>
                </a:solidFill>
                <a:highlight>
                  <a:srgbClr val="0D1117"/>
                </a:highlight>
              </a:rPr>
              <a:t>adf</a:t>
            </a:r>
            <a:endParaRPr sz="1200">
              <a:solidFill>
                <a:schemeClr val="lt1"/>
              </a:solidFill>
              <a:highlight>
                <a:srgbClr val="0D1117"/>
              </a:highlight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6d6f07febc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6d6f07febc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lt1"/>
                </a:solidFill>
                <a:highlight>
                  <a:srgbClr val="0D1117"/>
                </a:highlight>
              </a:rPr>
              <a:t>adf</a:t>
            </a:r>
            <a:endParaRPr sz="1200">
              <a:solidFill>
                <a:schemeClr val="lt1"/>
              </a:solidFill>
              <a:highlight>
                <a:srgbClr val="0D1117"/>
              </a:highlight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92076964e734eb5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92076964e734eb5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92076964e734eb5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92076964e734eb5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92076964e734eb5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92076964e734eb5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6d6f07feb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6d6f07feb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6d6f07feb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6d6f07feb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6d6f07febc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6d6f07feb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lt1"/>
                </a:solidFill>
                <a:highlight>
                  <a:srgbClr val="0D1117"/>
                </a:highlight>
              </a:rPr>
              <a:t>adf</a:t>
            </a:r>
            <a:endParaRPr sz="1200">
              <a:solidFill>
                <a:schemeClr val="lt1"/>
              </a:solidFill>
              <a:highlight>
                <a:srgbClr val="0D1117"/>
              </a:highlight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6e1f6055f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6e1f6055f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6e1f6055f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6e1f6055f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lt1"/>
                </a:solidFill>
                <a:highlight>
                  <a:srgbClr val="0D1117"/>
                </a:highlight>
              </a:rPr>
              <a:t>adf</a:t>
            </a:r>
            <a:endParaRPr sz="1200">
              <a:solidFill>
                <a:schemeClr val="lt1"/>
              </a:solidFill>
              <a:highlight>
                <a:srgbClr val="0D1117"/>
              </a:highlight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6e1f6055f3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6e1f6055f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lt1"/>
                </a:solidFill>
                <a:highlight>
                  <a:srgbClr val="0D1117"/>
                </a:highlight>
              </a:rPr>
              <a:t>adf</a:t>
            </a:r>
            <a:endParaRPr sz="1200">
              <a:solidFill>
                <a:schemeClr val="lt1"/>
              </a:solidFill>
              <a:highlight>
                <a:srgbClr val="0D1117"/>
              </a:highlight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6e54b5d7d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6e54b5d7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lt1"/>
                </a:solidFill>
                <a:highlight>
                  <a:srgbClr val="0D1117"/>
                </a:highlight>
              </a:rPr>
              <a:t>adf</a:t>
            </a:r>
            <a:endParaRPr sz="1200">
              <a:solidFill>
                <a:schemeClr val="lt1"/>
              </a:solidFill>
              <a:highlight>
                <a:srgbClr val="0D1117"/>
              </a:highlight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6d6f07febc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6d6f07febc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hyperlink" Target="https://creative-chan.tistory.com/entry/Mujoco-%EC%84%A4%EC%B9%98-%EB%B0%8F-mujoco-py-%EC%84%A4%EC%B9%98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hyperlink" Target="https://colab.sandbox.google.com/github/google-deepmind/mujoco/blob/main/mjx/tutorial.ipynb" TargetMode="External"/><Relationship Id="rId5" Type="http://schemas.openxmlformats.org/officeDocument/2006/relationships/hyperlink" Target="https://www.notion.so/Brax-22313114ccbb80889db4e781c7b38171?source=copy_link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hyperlink" Target="http://drive.google.com/file/d/1QymsnR01lRoTTwuzsk0AXN889JM6ss_n/view" TargetMode="External"/><Relationship Id="rId6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hyperlink" Target="http://drive.google.com/file/d/1dZIPNe4LQQFFcD51-owPE7vdxYzXar6W/view" TargetMode="External"/><Relationship Id="rId6" Type="http://schemas.openxmlformats.org/officeDocument/2006/relationships/image" Target="../media/image13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Relationship Id="rId4" Type="http://schemas.openxmlformats.org/officeDocument/2006/relationships/hyperlink" Target="http://env.sys.nu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Relationship Id="rId4" Type="http://schemas.openxmlformats.org/officeDocument/2006/relationships/hyperlink" Target="http://drive.google.com/file/d/1NgJfc5bfy7752rgk8UZqu7LNbDC0CSEp/view" TargetMode="External"/><Relationship Id="rId5" Type="http://schemas.openxmlformats.org/officeDocument/2006/relationships/image" Target="../media/image6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Relationship Id="rId4" Type="http://schemas.openxmlformats.org/officeDocument/2006/relationships/hyperlink" Target="http://drive.google.com/file/d/1XUaxu5_RN9iYdAV0xRYqHBB_TEzRENN_/view" TargetMode="External"/><Relationship Id="rId5" Type="http://schemas.openxmlformats.org/officeDocument/2006/relationships/image" Target="../media/image8.jpg"/><Relationship Id="rId6" Type="http://schemas.openxmlformats.org/officeDocument/2006/relationships/hyperlink" Target="http://drive.google.com/file/d/1g5fC_HdtLwKGOQZp_FPSrADf6jhvMvVc/view" TargetMode="External"/><Relationship Id="rId7" Type="http://schemas.openxmlformats.org/officeDocument/2006/relationships/image" Target="../media/image15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png"/><Relationship Id="rId4" Type="http://schemas.openxmlformats.org/officeDocument/2006/relationships/hyperlink" Target="https://www.notion.so/Real-time-Rendering-Pipeline-1c813114ccbb804cae90f45e76e69b4d?source=copy_link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5150" y="0"/>
            <a:ext cx="9144000" cy="601500"/>
          </a:xfrm>
          <a:prstGeom prst="rect">
            <a:avLst/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76200">
              <a:srgbClr val="595959">
                <a:alpha val="16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311700" y="1447000"/>
            <a:ext cx="8520600" cy="9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90500" rtl="0" algn="ctr">
              <a:lnSpc>
                <a:spcPct val="91283"/>
              </a:lnSpc>
              <a:spcBef>
                <a:spcPts val="600"/>
              </a:spcBef>
              <a:spcAft>
                <a:spcPts val="900"/>
              </a:spcAft>
              <a:buNone/>
            </a:pPr>
            <a:r>
              <a:rPr b="1" lang="ko" sz="32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Weekly Report 2025-07-15</a:t>
            </a:r>
            <a:endParaRPr b="1" sz="52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11700" y="2661775"/>
            <a:ext cx="8520600" cy="19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595959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595959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ko" sz="2800">
                <a:solidFill>
                  <a:schemeClr val="dk1"/>
                </a:solidFill>
                <a:highlight>
                  <a:srgbClr val="FFFFFF"/>
                </a:highlight>
              </a:rPr>
              <a:t>Written on July 14, 2025</a:t>
            </a:r>
            <a:endParaRPr i="1" sz="2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ko" sz="2800">
                <a:solidFill>
                  <a:srgbClr val="000000"/>
                </a:solidFill>
                <a:highlight>
                  <a:srgbClr val="FFFFFF"/>
                </a:highlight>
              </a:rPr>
              <a:t>Presenter : </a:t>
            </a:r>
            <a:r>
              <a:rPr i="1" lang="ko" sz="2800">
                <a:highlight>
                  <a:srgbClr val="FFFFFF"/>
                </a:highlight>
              </a:rPr>
              <a:t>EunwooSong</a:t>
            </a:r>
            <a:endParaRPr i="1" sz="2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ko" sz="2800">
                <a:highlight>
                  <a:srgbClr val="FFFFFF"/>
                </a:highlight>
              </a:rPr>
              <a:t>song200348@gmail.com</a:t>
            </a:r>
            <a:endParaRPr i="1" sz="28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" name="Google Shape;59;p13"/>
          <p:cNvCxnSpPr/>
          <p:nvPr/>
        </p:nvCxnSpPr>
        <p:spPr>
          <a:xfrm>
            <a:off x="361375" y="1408050"/>
            <a:ext cx="83091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13"/>
          <p:cNvCxnSpPr/>
          <p:nvPr/>
        </p:nvCxnSpPr>
        <p:spPr>
          <a:xfrm>
            <a:off x="361375" y="2430100"/>
            <a:ext cx="83091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" name="Google Shape;61;p13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6079075" y="2452175"/>
            <a:ext cx="259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ko">
                <a:solidFill>
                  <a:srgbClr val="4A86E8"/>
                </a:solidFill>
              </a:rPr>
              <a:t>ToddlerBot Simulation</a:t>
            </a:r>
            <a:endParaRPr i="1">
              <a:solidFill>
                <a:srgbClr val="4A86E8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Index</a:t>
            </a:r>
            <a:endParaRPr b="1" i="1" sz="2500"/>
          </a:p>
        </p:txBody>
      </p:sp>
      <p:sp>
        <p:nvSpPr>
          <p:cNvPr id="68" name="Google Shape;68;p14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How to set up the “ToddlerBot” </a:t>
            </a: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enviorment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Mujoco rendering examples in Jupyter Notebook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Rendering the “ToddlerBot” simulation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Training a Policy with Brax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Training ToddlerBot with Brax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Graphics..?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235500" y="2233450"/>
            <a:ext cx="8520600" cy="65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3000"/>
              <a:t>How to set up the “ToddlerBot” enviorment</a:t>
            </a:r>
            <a:endParaRPr b="1" sz="3000"/>
          </a:p>
        </p:txBody>
      </p:sp>
      <p:sp>
        <p:nvSpPr>
          <p:cNvPr id="78" name="Google Shape;78;p15"/>
          <p:cNvSpPr/>
          <p:nvPr/>
        </p:nvSpPr>
        <p:spPr>
          <a:xfrm>
            <a:off x="245225" y="2884850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6079075" y="2910050"/>
            <a:ext cx="259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ko">
                <a:solidFill>
                  <a:srgbClr val="4A86E8"/>
                </a:solidFill>
              </a:rPr>
              <a:t>Tested on Ubuntu 24.04</a:t>
            </a:r>
            <a:endParaRPr i="1">
              <a:solidFill>
                <a:srgbClr val="4A86E8"/>
              </a:solidFill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Step 1. Install Mujoco210</a:t>
            </a:r>
            <a:endParaRPr b="1" i="1" sz="2500"/>
          </a:p>
        </p:txBody>
      </p:sp>
      <p:sp>
        <p:nvSpPr>
          <p:cNvPr id="88" name="Google Shape;88;p16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 txBox="1"/>
          <p:nvPr/>
        </p:nvSpPr>
        <p:spPr>
          <a:xfrm>
            <a:off x="245225" y="4464950"/>
            <a:ext cx="85206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u="sng">
                <a:solidFill>
                  <a:schemeClr val="hlink"/>
                </a:solidFill>
                <a:highlight>
                  <a:srgbClr val="FFFFFF"/>
                </a:highlight>
                <a:hlinkClick r:id="rId4"/>
              </a:rPr>
              <a:t>참고 자료</a:t>
            </a:r>
            <a:endParaRPr sz="11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245325" y="1349925"/>
            <a:ext cx="8520600" cy="2949300"/>
          </a:xfrm>
          <a:prstGeom prst="rect">
            <a:avLst/>
          </a:prstGeom>
          <a:solidFill>
            <a:srgbClr val="272727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cd ~</a:t>
            </a:r>
            <a:endParaRPr sz="1000">
              <a:solidFill>
                <a:srgbClr val="F0F0F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wget https:</a:t>
            </a:r>
            <a:r>
              <a:rPr lang="ko" sz="10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//</a:t>
            </a:r>
            <a:r>
              <a:rPr lang="ko" sz="10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github.com</a:t>
            </a:r>
            <a:r>
              <a:rPr lang="ko" sz="10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ko" sz="10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google</a:t>
            </a:r>
            <a:r>
              <a:rPr lang="ko" sz="10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ko" sz="10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deepmind</a:t>
            </a:r>
            <a:r>
              <a:rPr lang="ko" sz="10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ko" sz="10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mujoco</a:t>
            </a:r>
            <a:r>
              <a:rPr lang="ko" sz="10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ko" sz="10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releases</a:t>
            </a:r>
            <a:r>
              <a:rPr lang="ko" sz="10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ko" sz="10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download</a:t>
            </a:r>
            <a:r>
              <a:rPr lang="ko" sz="10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ko" sz="1000">
                <a:solidFill>
                  <a:srgbClr val="C10AFF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2.1.0</a:t>
            </a:r>
            <a:r>
              <a:rPr lang="ko" sz="10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ko" sz="10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mujoco210</a:t>
            </a:r>
            <a:r>
              <a:rPr lang="ko" sz="10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ko" sz="10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linux</a:t>
            </a:r>
            <a:r>
              <a:rPr lang="ko" sz="10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ko" sz="10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x86_64.tar.gz</a:t>
            </a:r>
            <a:endParaRPr sz="1000">
              <a:solidFill>
                <a:srgbClr val="F0F0F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tar </a:t>
            </a:r>
            <a:r>
              <a:rPr lang="ko" sz="10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ko" sz="10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zxvf mujoco210</a:t>
            </a:r>
            <a:r>
              <a:rPr lang="ko" sz="10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ko" sz="10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linux</a:t>
            </a:r>
            <a:r>
              <a:rPr lang="ko" sz="10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ko" sz="10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x86_64.tar.gz</a:t>
            </a:r>
            <a:endParaRPr sz="1200">
              <a:solidFill>
                <a:srgbClr val="F0F0F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rm </a:t>
            </a:r>
            <a:r>
              <a:rPr lang="ko" sz="10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ko" sz="10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rf mujoco210</a:t>
            </a:r>
            <a:r>
              <a:rPr lang="ko" sz="10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ko" sz="10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linux</a:t>
            </a:r>
            <a:r>
              <a:rPr lang="ko" sz="10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ko" sz="10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x86_64.tar.gz</a:t>
            </a:r>
            <a:endParaRPr sz="1000">
              <a:solidFill>
                <a:srgbClr val="F0F0F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mkdir ~</a:t>
            </a:r>
            <a:r>
              <a:rPr lang="ko" sz="10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ko" sz="10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.mujoco</a:t>
            </a:r>
            <a:endParaRPr sz="1000">
              <a:solidFill>
                <a:srgbClr val="F0F0F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cp </a:t>
            </a:r>
            <a:r>
              <a:rPr lang="ko" sz="10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ko" sz="10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r mujoco210 ~</a:t>
            </a:r>
            <a:r>
              <a:rPr lang="ko" sz="10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ko" sz="10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.mujoco</a:t>
            </a:r>
            <a:r>
              <a:rPr lang="ko" sz="10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endParaRPr sz="1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Step 2. Create a Conda Virtual Environment</a:t>
            </a:r>
            <a:endParaRPr b="1" i="1" sz="2500"/>
          </a:p>
        </p:txBody>
      </p:sp>
      <p:sp>
        <p:nvSpPr>
          <p:cNvPr id="99" name="Google Shape;99;p17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 txBox="1"/>
          <p:nvPr/>
        </p:nvSpPr>
        <p:spPr>
          <a:xfrm>
            <a:off x="245225" y="4464950"/>
            <a:ext cx="85206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  <a:highlight>
                  <a:srgbClr val="FFFFFF"/>
                </a:highlight>
              </a:rPr>
              <a:t>Github에 ssh key 등록이 되어있어야 합니다.</a:t>
            </a:r>
            <a:endParaRPr sz="1100">
              <a:solidFill>
                <a:schemeClr val="dk2"/>
              </a:solidFill>
              <a:highlight>
                <a:srgbClr val="FFFFFF"/>
              </a:highlight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245325" y="1349925"/>
            <a:ext cx="8520600" cy="2949300"/>
          </a:xfrm>
          <a:prstGeom prst="rect">
            <a:avLst/>
          </a:prstGeom>
          <a:solidFill>
            <a:srgbClr val="272727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7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conda create </a:t>
            </a:r>
            <a:r>
              <a:rPr lang="ko" sz="17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--</a:t>
            </a:r>
            <a:r>
              <a:rPr lang="ko" sz="17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name toddlerbot python</a:t>
            </a:r>
            <a:r>
              <a:rPr lang="ko" sz="17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ko" sz="1700">
                <a:solidFill>
                  <a:srgbClr val="C10AFF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3.10</a:t>
            </a:r>
            <a:endParaRPr sz="1700">
              <a:solidFill>
                <a:srgbClr val="C10AFF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7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conda activate toddlerbot</a:t>
            </a:r>
            <a:endParaRPr sz="1700">
              <a:solidFill>
                <a:srgbClr val="F0F0F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7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pip install </a:t>
            </a:r>
            <a:r>
              <a:rPr lang="ko" sz="17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ko" sz="17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e toddlerbot</a:t>
            </a:r>
            <a:r>
              <a:rPr lang="ko" sz="17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ko" sz="17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brax</a:t>
            </a:r>
            <a:endParaRPr sz="1700">
              <a:solidFill>
                <a:srgbClr val="F0F0F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7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pip install </a:t>
            </a:r>
            <a:r>
              <a:rPr lang="ko" sz="17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ko" sz="17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e </a:t>
            </a:r>
            <a:r>
              <a:rPr lang="ko" sz="1700">
                <a:solidFill>
                  <a:srgbClr val="FFD50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".[linux]"</a:t>
            </a:r>
            <a:endParaRPr sz="1700">
              <a:solidFill>
                <a:srgbClr val="FFD50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7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conda activate toddlerbot</a:t>
            </a:r>
            <a:endParaRPr sz="1700">
              <a:solidFill>
                <a:srgbClr val="F0F0F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0F0F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Step 3. Add Environment Variables</a:t>
            </a:r>
            <a:endParaRPr b="1" i="1" sz="2500"/>
          </a:p>
        </p:txBody>
      </p:sp>
      <p:sp>
        <p:nvSpPr>
          <p:cNvPr id="110" name="Google Shape;110;p18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8"/>
          <p:cNvSpPr txBox="1"/>
          <p:nvPr/>
        </p:nvSpPr>
        <p:spPr>
          <a:xfrm>
            <a:off x="245225" y="4464950"/>
            <a:ext cx="85206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  <a:highlight>
                  <a:srgbClr val="FFFFFF"/>
                </a:highlight>
              </a:rPr>
              <a:t>LD_LIBRARY_PATH를 통해 python module이 mujoco의 bin을 찾을 수 있습니다</a:t>
            </a:r>
            <a:endParaRPr sz="1100">
              <a:solidFill>
                <a:schemeClr val="dk2"/>
              </a:solidFill>
              <a:highlight>
                <a:srgbClr val="FFFFFF"/>
              </a:highlight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14" name="Google Shape;114;p18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115" name="Google Shape;115;p18"/>
          <p:cNvSpPr txBox="1"/>
          <p:nvPr/>
        </p:nvSpPr>
        <p:spPr>
          <a:xfrm>
            <a:off x="245325" y="1349925"/>
            <a:ext cx="8520600" cy="2949300"/>
          </a:xfrm>
          <a:prstGeom prst="rect">
            <a:avLst/>
          </a:prstGeom>
          <a:solidFill>
            <a:srgbClr val="272727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ko" sz="13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LD_LIBRARY_PATH</a:t>
            </a:r>
            <a:r>
              <a:rPr lang="ko" sz="13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ko" sz="13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$LD_LIBRARY_PATH:</a:t>
            </a:r>
            <a:r>
              <a:rPr lang="ko" sz="13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ko" sz="13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home</a:t>
            </a:r>
            <a:r>
              <a:rPr lang="ko" sz="13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ko" sz="13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{username}</a:t>
            </a:r>
            <a:r>
              <a:rPr lang="ko" sz="13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ko" sz="13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.mujoco</a:t>
            </a:r>
            <a:r>
              <a:rPr lang="ko" sz="13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ko" sz="13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mujoco210</a:t>
            </a:r>
            <a:r>
              <a:rPr lang="ko" sz="13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ko" sz="13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bin33</a:t>
            </a:r>
            <a:endParaRPr sz="1300">
              <a:solidFill>
                <a:srgbClr val="F0F0F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400"/>
              <a:t>Step 4. Set Up the ToddlerBot Cython Build Environment</a:t>
            </a:r>
            <a:endParaRPr b="1" i="1" sz="2400"/>
          </a:p>
        </p:txBody>
      </p:sp>
      <p:sp>
        <p:nvSpPr>
          <p:cNvPr id="121" name="Google Shape;121;p19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9"/>
          <p:cNvSpPr txBox="1"/>
          <p:nvPr/>
        </p:nvSpPr>
        <p:spPr>
          <a:xfrm>
            <a:off x="245225" y="4464950"/>
            <a:ext cx="85206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  <a:highlight>
                  <a:srgbClr val="FFFFFF"/>
                </a:highlight>
              </a:rPr>
              <a:t>Github에 ssh key 등록이 되어있어야 합니다.</a:t>
            </a:r>
            <a:endParaRPr sz="1100">
              <a:solidFill>
                <a:schemeClr val="dk2"/>
              </a:solidFill>
              <a:highlight>
                <a:srgbClr val="FFFFFF"/>
              </a:highlight>
            </a:endParaRPr>
          </a:p>
        </p:txBody>
      </p:sp>
      <p:sp>
        <p:nvSpPr>
          <p:cNvPr id="124" name="Google Shape;124;p19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25" name="Google Shape;125;p19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126" name="Google Shape;126;p19"/>
          <p:cNvSpPr txBox="1"/>
          <p:nvPr/>
        </p:nvSpPr>
        <p:spPr>
          <a:xfrm>
            <a:off x="245325" y="1349925"/>
            <a:ext cx="8520600" cy="2949300"/>
          </a:xfrm>
          <a:prstGeom prst="rect">
            <a:avLst/>
          </a:prstGeom>
          <a:solidFill>
            <a:srgbClr val="272727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7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conda install </a:t>
            </a:r>
            <a:r>
              <a:rPr lang="ko" sz="17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ko" sz="17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c conda</a:t>
            </a:r>
            <a:r>
              <a:rPr lang="ko" sz="17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ko" sz="17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forge libstdcxx</a:t>
            </a:r>
            <a:r>
              <a:rPr lang="ko" sz="17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ko" sz="17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ng</a:t>
            </a:r>
            <a:r>
              <a:rPr lang="ko" sz="17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ko" sz="1700">
                <a:solidFill>
                  <a:srgbClr val="C10AFF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12</a:t>
            </a:r>
            <a:endParaRPr sz="1700">
              <a:solidFill>
                <a:srgbClr val="C10AFF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7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pip install Cython</a:t>
            </a:r>
            <a:r>
              <a:rPr lang="ko" sz="17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ko" sz="1700">
                <a:solidFill>
                  <a:srgbClr val="C10AFF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3.0.</a:t>
            </a:r>
            <a:r>
              <a:rPr lang="ko" sz="17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0a10</a:t>
            </a:r>
            <a:endParaRPr sz="1700">
              <a:solidFill>
                <a:srgbClr val="F0F0F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7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pip3 install </a:t>
            </a:r>
            <a:r>
              <a:rPr lang="ko" sz="17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ko" sz="17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U </a:t>
            </a:r>
            <a:r>
              <a:rPr lang="ko" sz="1700">
                <a:solidFill>
                  <a:srgbClr val="FFD50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'mujoco-py&lt;2.2,&gt;=2.1'</a:t>
            </a:r>
            <a:endParaRPr sz="1700">
              <a:solidFill>
                <a:srgbClr val="FFD50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3399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400"/>
              <a:t>Step 5. Test the MuJoCo Installation</a:t>
            </a:r>
            <a:endParaRPr b="1" i="1" sz="2400"/>
          </a:p>
        </p:txBody>
      </p:sp>
      <p:sp>
        <p:nvSpPr>
          <p:cNvPr id="132" name="Google Shape;132;p20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0"/>
          <p:cNvSpPr txBox="1"/>
          <p:nvPr/>
        </p:nvSpPr>
        <p:spPr>
          <a:xfrm>
            <a:off x="245225" y="4464950"/>
            <a:ext cx="85206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  <a:highlight>
                  <a:srgbClr val="FFFFFF"/>
                </a:highlight>
              </a:rPr>
              <a:t>Github에 ssh key 등록이 되어있어야 합니다.</a:t>
            </a:r>
            <a:endParaRPr sz="1100">
              <a:solidFill>
                <a:schemeClr val="dk2"/>
              </a:solidFill>
              <a:highlight>
                <a:srgbClr val="FFFFFF"/>
              </a:highlight>
            </a:endParaRPr>
          </a:p>
        </p:txBody>
      </p:sp>
      <p:sp>
        <p:nvSpPr>
          <p:cNvPr id="135" name="Google Shape;135;p20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36" name="Google Shape;136;p20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137" name="Google Shape;137;p20"/>
          <p:cNvSpPr txBox="1"/>
          <p:nvPr/>
        </p:nvSpPr>
        <p:spPr>
          <a:xfrm>
            <a:off x="245325" y="1349925"/>
            <a:ext cx="8520600" cy="2949300"/>
          </a:xfrm>
          <a:prstGeom prst="rect">
            <a:avLst/>
          </a:prstGeom>
          <a:solidFill>
            <a:srgbClr val="272727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ko" sz="10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mujoco_py</a:t>
            </a:r>
            <a:endParaRPr sz="1000">
              <a:solidFill>
                <a:srgbClr val="F0F0F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ko" sz="10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os</a:t>
            </a:r>
            <a:endParaRPr sz="1000">
              <a:solidFill>
                <a:srgbClr val="F0F0F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mj_path </a:t>
            </a:r>
            <a:r>
              <a:rPr lang="ko" sz="10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ko" sz="10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mujoco_py.utils.discover_mujoco()</a:t>
            </a:r>
            <a:endParaRPr sz="1000">
              <a:solidFill>
                <a:srgbClr val="F0F0F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xml_path </a:t>
            </a:r>
            <a:r>
              <a:rPr lang="ko" sz="10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ko" sz="10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os.path.join(mj_path, </a:t>
            </a:r>
            <a:r>
              <a:rPr lang="ko" sz="1000">
                <a:solidFill>
                  <a:srgbClr val="FFD50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'model'</a:t>
            </a:r>
            <a:r>
              <a:rPr lang="ko" sz="10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ko" sz="1000">
                <a:solidFill>
                  <a:srgbClr val="FFD50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'humanoid.xml'</a:t>
            </a:r>
            <a:r>
              <a:rPr lang="ko" sz="10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rgbClr val="F0F0F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model </a:t>
            </a:r>
            <a:r>
              <a:rPr lang="ko" sz="10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ko" sz="10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mujoco_py.load_model_from_path(xml_path)</a:t>
            </a:r>
            <a:endParaRPr sz="1000">
              <a:solidFill>
                <a:srgbClr val="F0F0F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sim </a:t>
            </a:r>
            <a:r>
              <a:rPr lang="ko" sz="10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ko" sz="10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mujoco_py.MjSim(model)</a:t>
            </a:r>
            <a:endParaRPr sz="1000">
              <a:solidFill>
                <a:srgbClr val="F0F0F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rgbClr val="9999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##  [0.  0.  1.4 1.  0.  0.  0.  0.  0.  0.  0.  0.  0.  0.  0.  0.  0.  0.</a:t>
            </a:r>
            <a:endParaRPr sz="1000">
              <a:solidFill>
                <a:srgbClr val="999999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rgbClr val="9999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##  0.  0.  0.  0.  0.  0.  0.  0.  0.  0. ]</a:t>
            </a:r>
            <a:endParaRPr sz="1000">
              <a:solidFill>
                <a:srgbClr val="999999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rgbClr val="4BE6FA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ko" sz="10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(sim.data.qpos)</a:t>
            </a:r>
            <a:endParaRPr sz="1000">
              <a:solidFill>
                <a:srgbClr val="F0F0F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rgbClr val="9999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#[-1.12164337e-05  7.29847036e-22  1.39975300e+00  9.99999999e-01</a:t>
            </a:r>
            <a:endParaRPr sz="1000">
              <a:solidFill>
                <a:srgbClr val="999999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rgbClr val="9999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# 1.80085466e-21  4.45933954e-05 -2.70143345e-20  1.30126513e-19</a:t>
            </a:r>
            <a:endParaRPr sz="1000">
              <a:solidFill>
                <a:srgbClr val="999999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rgbClr val="9999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# ...</a:t>
            </a:r>
            <a:endParaRPr sz="1000">
              <a:solidFill>
                <a:srgbClr val="999999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rgbClr val="9999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# -1.37554006e-03 -5.54173825e-05 -5.73572648e-05  7.63833991e-05</a:t>
            </a:r>
            <a:endParaRPr sz="1000">
              <a:solidFill>
                <a:srgbClr val="999999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rgbClr val="9999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# -2.12765194e-05  5.73572648e-05 -7.63833991e-05 -2.12765194e-05]</a:t>
            </a:r>
            <a:endParaRPr sz="1000">
              <a:solidFill>
                <a:srgbClr val="999999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sim.step()</a:t>
            </a:r>
            <a:endParaRPr sz="1000">
              <a:solidFill>
                <a:srgbClr val="F0F0F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4BE6FA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ko" sz="10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(sim.data.qpos)</a:t>
            </a:r>
            <a:endParaRPr sz="1800">
              <a:solidFill>
                <a:srgbClr val="F0F0F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>
            <p:ph type="title"/>
          </p:nvPr>
        </p:nvSpPr>
        <p:spPr>
          <a:xfrm>
            <a:off x="235500" y="4735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000"/>
              <a:t>Appendix: Adding a Conda Virtual Environment as a Kernel in Jupyter Notebook</a:t>
            </a:r>
            <a:endParaRPr b="1" i="1" sz="2000"/>
          </a:p>
        </p:txBody>
      </p:sp>
      <p:sp>
        <p:nvSpPr>
          <p:cNvPr id="143" name="Google Shape;143;p21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1"/>
          <p:cNvSpPr txBox="1"/>
          <p:nvPr/>
        </p:nvSpPr>
        <p:spPr>
          <a:xfrm>
            <a:off x="245225" y="4464950"/>
            <a:ext cx="85206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  <a:highlight>
                  <a:srgbClr val="FFFFFF"/>
                </a:highlight>
              </a:rPr>
              <a:t>주피터 노트북에 생성한 conda 가상환경 커널을 추가</a:t>
            </a:r>
            <a:r>
              <a:rPr lang="ko" sz="1100">
                <a:solidFill>
                  <a:schemeClr val="dk2"/>
                </a:solidFill>
                <a:highlight>
                  <a:srgbClr val="FFFFFF"/>
                </a:highlight>
              </a:rPr>
              <a:t>해야 정상적으로 동작합니다</a:t>
            </a:r>
            <a:r>
              <a:rPr lang="ko" sz="1100">
                <a:solidFill>
                  <a:schemeClr val="dk2"/>
                </a:solidFill>
                <a:highlight>
                  <a:srgbClr val="FFFFFF"/>
                </a:highlight>
              </a:rPr>
              <a:t>.</a:t>
            </a:r>
            <a:endParaRPr sz="1100">
              <a:solidFill>
                <a:schemeClr val="dk2"/>
              </a:solidFill>
              <a:highlight>
                <a:srgbClr val="FFFFFF"/>
              </a:highlight>
            </a:endParaRPr>
          </a:p>
        </p:txBody>
      </p:sp>
      <p:sp>
        <p:nvSpPr>
          <p:cNvPr id="146" name="Google Shape;146;p21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47" name="Google Shape;147;p21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148" name="Google Shape;148;p21"/>
          <p:cNvSpPr txBox="1"/>
          <p:nvPr/>
        </p:nvSpPr>
        <p:spPr>
          <a:xfrm>
            <a:off x="709450" y="1714525"/>
            <a:ext cx="8056500" cy="404100"/>
          </a:xfrm>
          <a:prstGeom prst="rect">
            <a:avLst/>
          </a:prstGeom>
          <a:solidFill>
            <a:srgbClr val="2727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conda activate your_env_name</a:t>
            </a:r>
            <a:endParaRPr sz="1000">
              <a:solidFill>
                <a:srgbClr val="F0F0F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9" name="Google Shape;149;p21"/>
          <p:cNvSpPr txBox="1"/>
          <p:nvPr/>
        </p:nvSpPr>
        <p:spPr>
          <a:xfrm>
            <a:off x="245225" y="1310425"/>
            <a:ext cx="85206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Step 1. Activate conda environment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sp>
        <p:nvSpPr>
          <p:cNvPr id="150" name="Google Shape;150;p21"/>
          <p:cNvSpPr txBox="1"/>
          <p:nvPr/>
        </p:nvSpPr>
        <p:spPr>
          <a:xfrm>
            <a:off x="709388" y="2571738"/>
            <a:ext cx="8056500" cy="404100"/>
          </a:xfrm>
          <a:prstGeom prst="rect">
            <a:avLst/>
          </a:prstGeom>
          <a:solidFill>
            <a:srgbClr val="2727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pip install ipykernel</a:t>
            </a:r>
            <a:endParaRPr sz="1900">
              <a:solidFill>
                <a:schemeClr val="dk2"/>
              </a:solidFill>
            </a:endParaRPr>
          </a:p>
        </p:txBody>
      </p:sp>
      <p:sp>
        <p:nvSpPr>
          <p:cNvPr id="151" name="Google Shape;151;p21"/>
          <p:cNvSpPr txBox="1"/>
          <p:nvPr/>
        </p:nvSpPr>
        <p:spPr>
          <a:xfrm>
            <a:off x="245163" y="2167638"/>
            <a:ext cx="85206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Step 2. Install ipykernel in the environment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sp>
        <p:nvSpPr>
          <p:cNvPr id="152" name="Google Shape;152;p21"/>
          <p:cNvSpPr txBox="1"/>
          <p:nvPr/>
        </p:nvSpPr>
        <p:spPr>
          <a:xfrm>
            <a:off x="709388" y="3428963"/>
            <a:ext cx="8056500" cy="404100"/>
          </a:xfrm>
          <a:prstGeom prst="rect">
            <a:avLst/>
          </a:prstGeom>
          <a:solidFill>
            <a:srgbClr val="2727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python -m ipykernel install --user --name your_env_name --display-name "Python (your_env_name)"</a:t>
            </a:r>
            <a:endParaRPr sz="1000">
              <a:solidFill>
                <a:srgbClr val="F0F0F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3" name="Google Shape;153;p21"/>
          <p:cNvSpPr txBox="1"/>
          <p:nvPr/>
        </p:nvSpPr>
        <p:spPr>
          <a:xfrm>
            <a:off x="245163" y="3024863"/>
            <a:ext cx="85206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Step 3. Add the environment to Jupyter as a new kernel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 txBox="1"/>
          <p:nvPr>
            <p:ph type="title"/>
          </p:nvPr>
        </p:nvSpPr>
        <p:spPr>
          <a:xfrm>
            <a:off x="235500" y="2233450"/>
            <a:ext cx="8520600" cy="65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/>
              <a:t>Mujoco rendering examples in Jupyter Notebook</a:t>
            </a:r>
            <a:endParaRPr b="1"/>
          </a:p>
        </p:txBody>
      </p:sp>
      <p:sp>
        <p:nvSpPr>
          <p:cNvPr id="159" name="Google Shape;159;p22"/>
          <p:cNvSpPr/>
          <p:nvPr/>
        </p:nvSpPr>
        <p:spPr>
          <a:xfrm>
            <a:off x="245225" y="2884850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2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62" name="Google Shape;162;p22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163" name="Google Shape;163;p22"/>
          <p:cNvSpPr txBox="1"/>
          <p:nvPr/>
        </p:nvSpPr>
        <p:spPr>
          <a:xfrm>
            <a:off x="6079075" y="2910050"/>
            <a:ext cx="259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ko">
                <a:solidFill>
                  <a:srgbClr val="4A86E8"/>
                </a:solidFill>
              </a:rPr>
              <a:t>Ubuntu 24.04</a:t>
            </a:r>
            <a:endParaRPr i="1">
              <a:solidFill>
                <a:srgbClr val="4A86E8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Why Use Jupyter notebook?</a:t>
            </a:r>
            <a:endParaRPr b="1" i="1" sz="2500"/>
          </a:p>
        </p:txBody>
      </p:sp>
      <p:sp>
        <p:nvSpPr>
          <p:cNvPr id="169" name="Google Shape;169;p23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0" name="Google Shape;17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3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CLI 환경에서 실제 정상적으로 학습을 수행하는지 시각적으로 확인할 수 있는 방법이 제한적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Jupyter notebook의 가상 display를 이용하면 확인할 수 있을 것이라 생각함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sp>
        <p:nvSpPr>
          <p:cNvPr id="172" name="Google Shape;172;p23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73" name="Google Shape;173;p23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4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400"/>
              <a:t>Sample Code</a:t>
            </a:r>
            <a:endParaRPr b="1" i="1" sz="2400"/>
          </a:p>
        </p:txBody>
      </p:sp>
      <p:sp>
        <p:nvSpPr>
          <p:cNvPr id="179" name="Google Shape;179;p24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4"/>
          <p:cNvSpPr txBox="1"/>
          <p:nvPr/>
        </p:nvSpPr>
        <p:spPr>
          <a:xfrm>
            <a:off x="245225" y="4464950"/>
            <a:ext cx="85206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  <a:highlight>
                  <a:srgbClr val="FFFFFF"/>
                </a:highlight>
              </a:rPr>
              <a:t>mujoco 환경을 render해서 현재 shell의 display를 지우고 다시 plt를 출력한다.</a:t>
            </a:r>
            <a:endParaRPr sz="1100">
              <a:solidFill>
                <a:schemeClr val="dk2"/>
              </a:solidFill>
              <a:highlight>
                <a:srgbClr val="FFFFFF"/>
              </a:highlight>
            </a:endParaRPr>
          </a:p>
        </p:txBody>
      </p:sp>
      <p:sp>
        <p:nvSpPr>
          <p:cNvPr id="182" name="Google Shape;182;p24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83" name="Google Shape;183;p24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184" name="Google Shape;184;p24"/>
          <p:cNvSpPr txBox="1"/>
          <p:nvPr/>
        </p:nvSpPr>
        <p:spPr>
          <a:xfrm>
            <a:off x="245325" y="1349925"/>
            <a:ext cx="8520600" cy="2949300"/>
          </a:xfrm>
          <a:prstGeom prst="rect">
            <a:avLst/>
          </a:prstGeom>
          <a:solidFill>
            <a:srgbClr val="272727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9999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# 환경 설치 테스트용</a:t>
            </a:r>
            <a:endParaRPr sz="900">
              <a:solidFill>
                <a:srgbClr val="999999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gym</a:t>
            </a:r>
            <a:endParaRPr sz="900">
              <a:solidFill>
                <a:srgbClr val="F0F0F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IPython </a:t>
            </a:r>
            <a:r>
              <a:rPr lang="ko" sz="9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display</a:t>
            </a:r>
            <a:endParaRPr sz="900">
              <a:solidFill>
                <a:srgbClr val="F0F0F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matplotlib.pyplot </a:t>
            </a:r>
            <a:r>
              <a:rPr lang="ko" sz="9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plt</a:t>
            </a:r>
            <a:endParaRPr sz="900">
              <a:solidFill>
                <a:srgbClr val="F0F0F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0F0F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env </a:t>
            </a:r>
            <a:r>
              <a:rPr lang="ko" sz="9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gym.make(</a:t>
            </a:r>
            <a:r>
              <a:rPr lang="ko" sz="900">
                <a:solidFill>
                  <a:srgbClr val="FFD50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'HalfCheetah-v3'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, render_mode</a:t>
            </a:r>
            <a:r>
              <a:rPr lang="ko" sz="9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ko" sz="900">
                <a:solidFill>
                  <a:srgbClr val="FFD50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"rgb_array"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00">
              <a:solidFill>
                <a:srgbClr val="999999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observation </a:t>
            </a:r>
            <a:r>
              <a:rPr lang="ko" sz="9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env.reset()</a:t>
            </a:r>
            <a:endParaRPr sz="900">
              <a:solidFill>
                <a:srgbClr val="999999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_ </a:t>
            </a:r>
            <a:r>
              <a:rPr lang="ko" sz="9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ko" sz="900">
                <a:solidFill>
                  <a:srgbClr val="4BE6FA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ko" sz="900">
                <a:solidFill>
                  <a:srgbClr val="C10AFF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50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900">
              <a:solidFill>
                <a:srgbClr val="F0F0F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  screen </a:t>
            </a:r>
            <a:r>
              <a:rPr lang="ko" sz="9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env.render() </a:t>
            </a:r>
            <a:r>
              <a:rPr lang="ko" sz="900">
                <a:solidFill>
                  <a:srgbClr val="9999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# 현재 환경을 'rgb_array'로 출력하여 screen 변수로 저장합니다.</a:t>
            </a:r>
            <a:endParaRPr sz="900">
              <a:solidFill>
                <a:srgbClr val="999999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  display.clear_output(wait</a:t>
            </a:r>
            <a:r>
              <a:rPr lang="ko" sz="9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ko" sz="900">
                <a:solidFill>
                  <a:srgbClr val="4BE6FA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ko" sz="900">
                <a:solidFill>
                  <a:srgbClr val="9999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# display에 이미지를 지워줍니다. display하기 전에 하는 이유는 초기화하는 것으로 생각하면 됩니다.</a:t>
            </a:r>
            <a:endParaRPr sz="900">
              <a:solidFill>
                <a:srgbClr val="999999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  display.display(plt.gcf()) </a:t>
            </a:r>
            <a:r>
              <a:rPr lang="ko" sz="900">
                <a:solidFill>
                  <a:srgbClr val="9999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# 현재 figure의 정보를 display에 출력합니다.</a:t>
            </a:r>
            <a:endParaRPr sz="900">
              <a:solidFill>
                <a:srgbClr val="999999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  plt.imshow(screen) </a:t>
            </a:r>
            <a:r>
              <a:rPr lang="ko" sz="900">
                <a:solidFill>
                  <a:srgbClr val="9999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# screen 배열을 이미지로 출력합니다.</a:t>
            </a:r>
            <a:endParaRPr sz="900">
              <a:solidFill>
                <a:srgbClr val="999999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  env.step(env.action_space.sample())</a:t>
            </a:r>
            <a:endParaRPr sz="900">
              <a:solidFill>
                <a:srgbClr val="F0F0F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plt.</a:t>
            </a:r>
            <a:r>
              <a:rPr lang="ko" sz="900">
                <a:solidFill>
                  <a:srgbClr val="4BE6FA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close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900">
              <a:solidFill>
                <a:srgbClr val="999999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env.</a:t>
            </a:r>
            <a:r>
              <a:rPr lang="ko" sz="900">
                <a:solidFill>
                  <a:srgbClr val="4BE6FA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close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000">
              <a:solidFill>
                <a:srgbClr val="FF3399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400"/>
              <a:t>Sample Code - Result</a:t>
            </a:r>
            <a:endParaRPr b="1" i="1" sz="2400"/>
          </a:p>
        </p:txBody>
      </p:sp>
      <p:sp>
        <p:nvSpPr>
          <p:cNvPr id="190" name="Google Shape;190;p25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1" name="Google Shape;19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5"/>
          <p:cNvSpPr txBox="1"/>
          <p:nvPr/>
        </p:nvSpPr>
        <p:spPr>
          <a:xfrm>
            <a:off x="245225" y="4464950"/>
            <a:ext cx="85206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  <a:highlight>
                  <a:srgbClr val="FFFFFF"/>
                </a:highlight>
              </a:rPr>
              <a:t>mujoco 환경을 render해서 현재 shell의 display를 지우고 다시 plt를 출력한다.</a:t>
            </a:r>
            <a:endParaRPr sz="1100">
              <a:solidFill>
                <a:schemeClr val="dk2"/>
              </a:solidFill>
              <a:highlight>
                <a:srgbClr val="FFFFFF"/>
              </a:highlight>
            </a:endParaRPr>
          </a:p>
        </p:txBody>
      </p:sp>
      <p:sp>
        <p:nvSpPr>
          <p:cNvPr id="193" name="Google Shape;193;p25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94" name="Google Shape;194;p25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pic>
        <p:nvPicPr>
          <p:cNvPr id="195" name="Google Shape;19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0513" y="1300025"/>
            <a:ext cx="3062974" cy="301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6"/>
          <p:cNvSpPr txBox="1"/>
          <p:nvPr>
            <p:ph type="title"/>
          </p:nvPr>
        </p:nvSpPr>
        <p:spPr>
          <a:xfrm>
            <a:off x="235500" y="2233450"/>
            <a:ext cx="8520600" cy="65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/>
              <a:t>Rendering the “ToddlerBot” simulation</a:t>
            </a:r>
            <a:endParaRPr b="1"/>
          </a:p>
        </p:txBody>
      </p:sp>
      <p:sp>
        <p:nvSpPr>
          <p:cNvPr id="201" name="Google Shape;201;p26"/>
          <p:cNvSpPr/>
          <p:nvPr/>
        </p:nvSpPr>
        <p:spPr>
          <a:xfrm>
            <a:off x="245225" y="2884850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6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04" name="Google Shape;204;p26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205" name="Google Shape;205;p26"/>
          <p:cNvSpPr txBox="1"/>
          <p:nvPr/>
        </p:nvSpPr>
        <p:spPr>
          <a:xfrm>
            <a:off x="6079075" y="2910050"/>
            <a:ext cx="259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ko">
                <a:solidFill>
                  <a:srgbClr val="4A86E8"/>
                </a:solidFill>
              </a:rPr>
              <a:t>Ubuntu 24.04</a:t>
            </a:r>
            <a:endParaRPr i="1">
              <a:solidFill>
                <a:srgbClr val="4A86E8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7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Troubleshooting Notes</a:t>
            </a:r>
            <a:endParaRPr b="1" i="1" sz="2500"/>
          </a:p>
        </p:txBody>
      </p:sp>
      <p:sp>
        <p:nvSpPr>
          <p:cNvPr id="211" name="Google Shape;211;p27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2" name="Google Shape;21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7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ToddlerBot의 Mesh, xml 등의 위치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500"/>
              <a:buChar char="-"/>
            </a:pPr>
            <a:r>
              <a:rPr lang="ko" sz="1500">
                <a:solidFill>
                  <a:srgbClr val="0D0D0D"/>
                </a:solidFill>
                <a:highlight>
                  <a:srgbClr val="FFFFFF"/>
                </a:highlight>
              </a:rPr>
              <a:t>ToddlerBot의 Mesh, xml 등이 어디에 있는지, 혹은 다운로드 하는지에 대한 정보 X</a:t>
            </a:r>
            <a:endParaRPr sz="15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toddlerbot 모듈의 경로 문제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500"/>
              <a:buChar char="-"/>
            </a:pPr>
            <a:r>
              <a:rPr lang="ko" sz="1500">
                <a:solidFill>
                  <a:srgbClr val="0D0D0D"/>
                </a:solidFill>
                <a:highlight>
                  <a:srgbClr val="FFFFFF"/>
                </a:highlight>
              </a:rPr>
              <a:t>위의 문제를 해결했음에도, 모듈에서 파일의 경로를 찾을 수 없는 오류</a:t>
            </a:r>
            <a:endParaRPr sz="15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GLFW 초기화 문제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500"/>
              <a:buChar char="-"/>
            </a:pPr>
            <a:r>
              <a:rPr lang="ko" sz="1500">
                <a:solidFill>
                  <a:srgbClr val="0D0D0D"/>
                </a:solidFill>
                <a:highlight>
                  <a:srgbClr val="FFFFFF"/>
                </a:highlight>
              </a:rPr>
              <a:t>Mujoco Renderer를 초기화 하는데 생기는 오류</a:t>
            </a:r>
            <a:endParaRPr sz="15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sp>
        <p:nvSpPr>
          <p:cNvPr id="214" name="Google Shape;214;p27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15" name="Google Shape;215;p27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Problem 1. ToddlerBot의 Mesh, xml 등의 위치</a:t>
            </a:r>
            <a:endParaRPr b="1" i="1" sz="2500"/>
          </a:p>
        </p:txBody>
      </p:sp>
      <p:sp>
        <p:nvSpPr>
          <p:cNvPr id="221" name="Google Shape;221;p28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2" name="Google Shape;22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8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PATH: toddlerbot/descriptions/assamblies/toddlerbot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각 파츠별로 따로 불러와 학습을 진행할 수 있음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0D0D0D"/>
                </a:solidFill>
                <a:highlight>
                  <a:schemeClr val="lt1"/>
                </a:highlight>
              </a:rPr>
              <a:t>Root Causes</a:t>
            </a:r>
            <a:endParaRPr b="1"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bash onshape_to_robot.sh를 하다 오류가 생겨 원래 있던 mesh, xml등의 정보 파일이 삭제된 것을 확인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sp>
        <p:nvSpPr>
          <p:cNvPr id="224" name="Google Shape;224;p28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25" name="Google Shape;225;p28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pic>
        <p:nvPicPr>
          <p:cNvPr id="226" name="Google Shape;22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950" y="1868738"/>
            <a:ext cx="8067675" cy="65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9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Problem 2. </a:t>
            </a:r>
            <a:r>
              <a:rPr b="1" lang="ko" sz="2500"/>
              <a:t>toddlerbot 모듈의 경로 문제</a:t>
            </a:r>
            <a:endParaRPr b="1" i="1" sz="2500"/>
          </a:p>
        </p:txBody>
      </p:sp>
      <p:sp>
        <p:nvSpPr>
          <p:cNvPr id="232" name="Google Shape;232;p29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3" name="Google Shape;23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9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파일을 불러오는 코드에서 os.path의 상대경로가 올바르게 동작하지 않음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toddlerbot/descriptions/assamblies/ 를 pathlib를 이용해 절대경로로 코드를 수정함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sp>
        <p:nvSpPr>
          <p:cNvPr id="235" name="Google Shape;235;p29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36" name="Google Shape;236;p29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237" name="Google Shape;237;p29"/>
          <p:cNvSpPr txBox="1"/>
          <p:nvPr/>
        </p:nvSpPr>
        <p:spPr>
          <a:xfrm>
            <a:off x="245325" y="2206375"/>
            <a:ext cx="8520600" cy="2060100"/>
          </a:xfrm>
          <a:prstGeom prst="rect">
            <a:avLst/>
          </a:prstGeom>
          <a:solidFill>
            <a:srgbClr val="272727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Robot:</a:t>
            </a:r>
            <a:endParaRPr sz="900">
              <a:solidFill>
                <a:srgbClr val="F0F0F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ko" sz="900">
                <a:solidFill>
                  <a:srgbClr val="FFD50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"""This class defines some data strucutres, FK, IK of ToddlerBot."""</a:t>
            </a:r>
            <a:endParaRPr sz="900">
              <a:solidFill>
                <a:srgbClr val="FFD50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ko" sz="9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__init__(</a:t>
            </a:r>
            <a:r>
              <a:rPr lang="ko" sz="900">
                <a:solidFill>
                  <a:srgbClr val="4BE6FA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, robot_name: </a:t>
            </a:r>
            <a:r>
              <a:rPr lang="ko" sz="900">
                <a:solidFill>
                  <a:srgbClr val="4BE6FA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900">
              <a:solidFill>
                <a:srgbClr val="F0F0F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ko" sz="900">
                <a:solidFill>
                  <a:srgbClr val="FFD50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"""Initializes a robot with specified configurations and paths.</a:t>
            </a:r>
            <a:endParaRPr sz="900">
              <a:solidFill>
                <a:srgbClr val="FFD50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00">
                <a:solidFill>
                  <a:srgbClr val="FFD50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      Args:</a:t>
            </a:r>
            <a:endParaRPr sz="900">
              <a:solidFill>
                <a:srgbClr val="FFD50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00">
                <a:solidFill>
                  <a:srgbClr val="FFD50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robot_name (str): The name of the robot, used to set up directory paths and configurations.</a:t>
            </a:r>
            <a:endParaRPr sz="900">
              <a:solidFill>
                <a:srgbClr val="FFD50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00">
                <a:solidFill>
                  <a:srgbClr val="FFD50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      """</a:t>
            </a:r>
            <a:endParaRPr sz="900">
              <a:solidFill>
                <a:srgbClr val="FFD50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ko" sz="900">
                <a:solidFill>
                  <a:srgbClr val="4BE6FA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.root_path </a:t>
            </a:r>
            <a:r>
              <a:rPr lang="ko" sz="9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Path(__file__).parent.parent</a:t>
            </a:r>
            <a:endParaRPr sz="900">
              <a:solidFill>
                <a:srgbClr val="F0F0F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ko" sz="900">
                <a:solidFill>
                  <a:srgbClr val="4BE6FA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.root_path </a:t>
            </a:r>
            <a:r>
              <a:rPr lang="ko" sz="9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ko" sz="900">
                <a:solidFill>
                  <a:srgbClr val="4BE6FA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.root_path </a:t>
            </a:r>
            <a:r>
              <a:rPr lang="ko" sz="9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ko" sz="900">
                <a:solidFill>
                  <a:srgbClr val="FFD50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"descriptions"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ko" sz="9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ko" sz="900">
                <a:solidFill>
                  <a:srgbClr val="4BE6FA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.name</a:t>
            </a:r>
            <a:endParaRPr sz="900">
              <a:solidFill>
                <a:srgbClr val="F0F0F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ko" sz="900">
                <a:solidFill>
                  <a:srgbClr val="4BE6FA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.config_path </a:t>
            </a:r>
            <a:r>
              <a:rPr lang="ko" sz="9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ko" sz="900">
                <a:solidFill>
                  <a:srgbClr val="4BE6FA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.root_path </a:t>
            </a:r>
            <a:r>
              <a:rPr lang="ko" sz="9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ko" sz="900">
                <a:solidFill>
                  <a:srgbClr val="FFD50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"config.json"</a:t>
            </a:r>
            <a:endParaRPr sz="900">
              <a:solidFill>
                <a:srgbClr val="FFD50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ko" sz="900">
                <a:solidFill>
                  <a:srgbClr val="4BE6FA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.collision_config_path </a:t>
            </a:r>
            <a:r>
              <a:rPr lang="ko" sz="9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ko" sz="900">
                <a:solidFill>
                  <a:srgbClr val="4BE6FA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.root_path </a:t>
            </a:r>
            <a:r>
              <a:rPr lang="ko" sz="9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ko" sz="900">
                <a:solidFill>
                  <a:srgbClr val="FFD50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"config_collision.json"</a:t>
            </a:r>
            <a:endParaRPr sz="900">
              <a:solidFill>
                <a:srgbClr val="FFD50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ko" sz="900">
                <a:solidFill>
                  <a:srgbClr val="4BE6FA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.cache_path </a:t>
            </a:r>
            <a:r>
              <a:rPr lang="ko" sz="9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ko" sz="900">
                <a:solidFill>
                  <a:srgbClr val="4BE6FA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.root_path </a:t>
            </a:r>
            <a:r>
              <a:rPr lang="ko" sz="9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f</a:t>
            </a:r>
            <a:r>
              <a:rPr lang="ko" sz="900">
                <a:solidFill>
                  <a:srgbClr val="FFD50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"{self.name}_cache.pkl"</a:t>
            </a:r>
            <a:endParaRPr sz="900">
              <a:solidFill>
                <a:srgbClr val="FFD50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999999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0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Problem 2. toddlerbot 모듈의 경로 문제</a:t>
            </a:r>
            <a:endParaRPr b="1" i="1" sz="2500"/>
          </a:p>
        </p:txBody>
      </p:sp>
      <p:sp>
        <p:nvSpPr>
          <p:cNvPr id="243" name="Google Shape;243;p30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4" name="Google Shape;24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0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toddlerbot/utils/file_utils.py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sp>
        <p:nvSpPr>
          <p:cNvPr id="246" name="Google Shape;246;p30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47" name="Google Shape;247;p30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248" name="Google Shape;248;p30"/>
          <p:cNvSpPr txBox="1"/>
          <p:nvPr/>
        </p:nvSpPr>
        <p:spPr>
          <a:xfrm>
            <a:off x="245325" y="1585600"/>
            <a:ext cx="8520600" cy="2612100"/>
          </a:xfrm>
          <a:prstGeom prst="rect">
            <a:avLst/>
          </a:prstGeom>
          <a:solidFill>
            <a:srgbClr val="272727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find_robot_file_path(robot_name: </a:t>
            </a:r>
            <a:r>
              <a:rPr lang="ko" sz="900">
                <a:solidFill>
                  <a:srgbClr val="4BE6FA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, suffix: </a:t>
            </a:r>
            <a:r>
              <a:rPr lang="ko" sz="900">
                <a:solidFill>
                  <a:srgbClr val="4BE6FA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ko" sz="9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ko" sz="900">
                <a:solidFill>
                  <a:srgbClr val="FFD50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".urdf"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ko" sz="9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ko" sz="900">
                <a:solidFill>
                  <a:srgbClr val="4BE6FA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900">
              <a:solidFill>
                <a:srgbClr val="F0F0F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ko" sz="900">
                <a:solidFill>
                  <a:srgbClr val="FFD50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"""</a:t>
            </a:r>
            <a:endParaRPr sz="900">
              <a:solidFill>
                <a:srgbClr val="FFD50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00">
                <a:solidFill>
                  <a:srgbClr val="FFD50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  Dynamically finds the URDF file path for a given robot name.</a:t>
            </a:r>
            <a:endParaRPr sz="900">
              <a:solidFill>
                <a:srgbClr val="FFD50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00">
                <a:solidFill>
                  <a:srgbClr val="FFD50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	...</a:t>
            </a:r>
            <a:endParaRPr sz="900">
              <a:solidFill>
                <a:srgbClr val="FFD50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00">
                <a:solidFill>
                  <a:srgbClr val="FFD50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  """</a:t>
            </a:r>
            <a:endParaRPr sz="900">
              <a:solidFill>
                <a:srgbClr val="FFD50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  robot_dir </a:t>
            </a:r>
            <a:r>
              <a:rPr lang="ko" sz="9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Path(__file__).parent.parent</a:t>
            </a:r>
            <a:endParaRPr sz="900">
              <a:solidFill>
                <a:srgbClr val="F0F0F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  robot_dir </a:t>
            </a:r>
            <a:r>
              <a:rPr lang="ko" sz="9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robot_dir </a:t>
            </a:r>
            <a:r>
              <a:rPr lang="ko" sz="9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ko" sz="900">
                <a:solidFill>
                  <a:srgbClr val="FFD50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"descriptions"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ko" sz="9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robot_name</a:t>
            </a:r>
            <a:endParaRPr sz="900">
              <a:solidFill>
                <a:srgbClr val="F0F0F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ko" sz="9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os.path.exists(robot_dir):</a:t>
            </a:r>
            <a:endParaRPr sz="900">
              <a:solidFill>
                <a:srgbClr val="F0F0F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      file_path </a:t>
            </a:r>
            <a:r>
              <a:rPr lang="ko" sz="9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os.path.join(robot_dir.resolve(), robot_name </a:t>
            </a:r>
            <a:r>
              <a:rPr lang="ko" sz="9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suffix)</a:t>
            </a:r>
            <a:endParaRPr sz="900">
              <a:solidFill>
                <a:srgbClr val="F0F0F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ko" sz="9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os.path.exists(file_path):</a:t>
            </a:r>
            <a:endParaRPr sz="900">
              <a:solidFill>
                <a:srgbClr val="F0F0F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ko" sz="9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file_path</a:t>
            </a:r>
            <a:endParaRPr sz="900">
              <a:solidFill>
                <a:srgbClr val="F0F0F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ko" sz="9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900">
              <a:solidFill>
                <a:srgbClr val="F0F0F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      assembly_dir </a:t>
            </a:r>
            <a:r>
              <a:rPr lang="ko" sz="9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Path(__file__).parent.parent</a:t>
            </a:r>
            <a:endParaRPr sz="900">
              <a:solidFill>
                <a:srgbClr val="F0F0F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      assembly_dir </a:t>
            </a:r>
            <a:r>
              <a:rPr lang="ko" sz="9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assembly_dir </a:t>
            </a:r>
            <a:r>
              <a:rPr lang="ko" sz="9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ko" sz="900">
                <a:solidFill>
                  <a:srgbClr val="FFD50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"descriptions"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ko" sz="9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ko" sz="900">
                <a:solidFill>
                  <a:srgbClr val="FFD50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"assemblies"</a:t>
            </a:r>
            <a:endParaRPr sz="900">
              <a:solidFill>
                <a:srgbClr val="FFD50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      file_path </a:t>
            </a:r>
            <a:r>
              <a:rPr lang="ko" sz="9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os.path.join(assembly_dir.resolve(), robot_name </a:t>
            </a:r>
            <a:r>
              <a:rPr lang="ko" sz="9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suffix)</a:t>
            </a:r>
            <a:endParaRPr sz="900">
              <a:solidFill>
                <a:srgbClr val="F0F0F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3399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1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Problem </a:t>
            </a:r>
            <a:r>
              <a:rPr b="1" lang="ko" sz="2500"/>
              <a:t>2. toddlerbot 모듈의 경로 문제 (X)</a:t>
            </a:r>
            <a:endParaRPr b="1" i="1" sz="2500"/>
          </a:p>
        </p:txBody>
      </p:sp>
      <p:sp>
        <p:nvSpPr>
          <p:cNvPr id="254" name="Google Shape;254;p31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5" name="Google Shape;25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1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toddlerbot/descriptions </a:t>
            </a: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폴더를 작업중인 directory넣으면 문제가 없음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혹은 os.chdir(PATH)를 통해 루트 경로를 다른 경로로 수정하면 됩니다.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sp>
        <p:nvSpPr>
          <p:cNvPr id="257" name="Google Shape;257;p31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58" name="Google Shape;258;p31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pic>
        <p:nvPicPr>
          <p:cNvPr id="259" name="Google Shape;25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9150" y="2056013"/>
            <a:ext cx="3143250" cy="240982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1"/>
          <p:cNvSpPr/>
          <p:nvPr/>
        </p:nvSpPr>
        <p:spPr>
          <a:xfrm>
            <a:off x="707700" y="2857675"/>
            <a:ext cx="3372900" cy="4005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2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Problem 3. OpenGL 초기화 문제</a:t>
            </a:r>
            <a:endParaRPr b="1" i="1" sz="2500"/>
          </a:p>
        </p:txBody>
      </p:sp>
      <p:sp>
        <p:nvSpPr>
          <p:cNvPr id="266" name="Google Shape;266;p32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7" name="Google Shape;26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2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mujoco.renderer 초기화 중, OpenGL의 초기화 문제 발생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Method 1. GLFW의 버전을 3.3 이상?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Method 2. MjRenderContextOffscreen?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근본적인 해결은 아니지만, EGL로 변경해 렌더링 시도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sp>
        <p:nvSpPr>
          <p:cNvPr id="269" name="Google Shape;269;p32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70" name="Google Shape;270;p32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271" name="Google Shape;271;p32"/>
          <p:cNvSpPr txBox="1"/>
          <p:nvPr/>
        </p:nvSpPr>
        <p:spPr>
          <a:xfrm>
            <a:off x="709450" y="2720825"/>
            <a:ext cx="8056500" cy="572700"/>
          </a:xfrm>
          <a:prstGeom prst="rect">
            <a:avLst/>
          </a:prstGeom>
          <a:solidFill>
            <a:srgbClr val="2727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ko" sz="11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os</a:t>
            </a:r>
            <a:endParaRPr sz="1100">
              <a:solidFill>
                <a:srgbClr val="F0F0F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os.environ[</a:t>
            </a:r>
            <a:r>
              <a:rPr lang="ko" sz="1100">
                <a:solidFill>
                  <a:srgbClr val="FFD50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"MUJOCO_GL"</a:t>
            </a:r>
            <a:r>
              <a:rPr lang="ko" sz="11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ko" sz="11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ko" sz="11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ko" sz="1100">
                <a:solidFill>
                  <a:srgbClr val="FFD50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"egl"</a:t>
            </a:r>
            <a:endParaRPr sz="1250">
              <a:solidFill>
                <a:srgbClr val="C586C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3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Result.</a:t>
            </a:r>
            <a:endParaRPr b="1" i="1" sz="2500"/>
          </a:p>
        </p:txBody>
      </p:sp>
      <p:sp>
        <p:nvSpPr>
          <p:cNvPr id="277" name="Google Shape;277;p33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8" name="Google Shape;27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3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80" name="Google Shape;280;p33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pic>
        <p:nvPicPr>
          <p:cNvPr id="281" name="Google Shape;28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3919" y="1266975"/>
            <a:ext cx="5636161" cy="351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4"/>
          <p:cNvSpPr txBox="1"/>
          <p:nvPr>
            <p:ph type="title"/>
          </p:nvPr>
        </p:nvSpPr>
        <p:spPr>
          <a:xfrm>
            <a:off x="235500" y="2233450"/>
            <a:ext cx="8520600" cy="65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/>
              <a:t>Training a Policy with MJX</a:t>
            </a:r>
            <a:endParaRPr b="1"/>
          </a:p>
        </p:txBody>
      </p:sp>
      <p:sp>
        <p:nvSpPr>
          <p:cNvPr id="287" name="Google Shape;287;p34"/>
          <p:cNvSpPr/>
          <p:nvPr/>
        </p:nvSpPr>
        <p:spPr>
          <a:xfrm>
            <a:off x="245225" y="2884850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8" name="Google Shape;28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4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90" name="Google Shape;290;p34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291" name="Google Shape;291;p34"/>
          <p:cNvSpPr txBox="1"/>
          <p:nvPr/>
        </p:nvSpPr>
        <p:spPr>
          <a:xfrm>
            <a:off x="6079075" y="2910050"/>
            <a:ext cx="259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ko">
                <a:solidFill>
                  <a:srgbClr val="4A86E8"/>
                </a:solidFill>
              </a:rPr>
              <a:t>Ubuntu 24.04</a:t>
            </a:r>
            <a:endParaRPr i="1">
              <a:solidFill>
                <a:srgbClr val="4A86E8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Environments</a:t>
            </a:r>
            <a:endParaRPr b="1" i="1" sz="2500"/>
          </a:p>
        </p:txBody>
      </p:sp>
      <p:sp>
        <p:nvSpPr>
          <p:cNvPr id="297" name="Google Shape;297;p35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8" name="Google Shape;29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5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300" name="Google Shape;300;p35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301" name="Google Shape;301;p35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jax == 0.6.2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jaxlib == 0.6.2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nvcc == 12.0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mujoco-mjx == 3.3.3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6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Brax, MJX</a:t>
            </a:r>
            <a:endParaRPr b="1" i="1" sz="2500"/>
          </a:p>
        </p:txBody>
      </p:sp>
      <p:sp>
        <p:nvSpPr>
          <p:cNvPr id="307" name="Google Shape;307;p36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8" name="Google Shape;30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6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310" name="Google Shape;310;p36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311" name="Google Shape;311;p36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700"/>
              <a:buChar char="-"/>
            </a:pPr>
            <a:r>
              <a:rPr lang="ko" sz="1700">
                <a:solidFill>
                  <a:srgbClr val="0D0D0D"/>
                </a:solidFill>
                <a:highlight>
                  <a:srgbClr val="FFFFFF"/>
                </a:highlight>
              </a:rPr>
              <a:t>JAX: Google에서 개발한 고성능 수치 계산 라이브러리(GPU, TPU 가속)</a:t>
            </a:r>
            <a:endParaRPr sz="17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700"/>
              <a:buChar char="-"/>
            </a:pPr>
            <a:r>
              <a:rPr lang="ko" sz="1700">
                <a:solidFill>
                  <a:srgbClr val="0D0D0D"/>
                </a:solidFill>
                <a:highlight>
                  <a:srgbClr val="FFFFFF"/>
                </a:highlight>
              </a:rPr>
              <a:t>sim. Numpy</a:t>
            </a:r>
            <a:endParaRPr sz="17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700"/>
              <a:buChar char="-"/>
            </a:pPr>
            <a:r>
              <a:rPr lang="ko" sz="1700">
                <a:solidFill>
                  <a:srgbClr val="0D0D0D"/>
                </a:solidFill>
                <a:highlight>
                  <a:srgbClr val="FFFFFF"/>
                </a:highlight>
              </a:rPr>
              <a:t>MJX: MuJoCo의 JAX 구현체</a:t>
            </a:r>
            <a:endParaRPr sz="17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700"/>
              <a:buChar char="-"/>
            </a:pPr>
            <a:r>
              <a:rPr lang="ko" sz="1700">
                <a:solidFill>
                  <a:srgbClr val="0D0D0D"/>
                </a:solidFill>
                <a:highlight>
                  <a:srgbClr val="FFFFFF"/>
                </a:highlight>
              </a:rPr>
              <a:t>mjx에서 제공하는 기능을 통해 mujoco 모델과 data를 gpu에 위치시킬 수 있다.</a:t>
            </a:r>
            <a:endParaRPr sz="17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700"/>
              <a:buChar char="-"/>
            </a:pPr>
            <a:r>
              <a:rPr lang="ko" sz="1700">
                <a:solidFill>
                  <a:srgbClr val="0D0D0D"/>
                </a:solidFill>
                <a:highlight>
                  <a:srgbClr val="FFFFFF"/>
                </a:highlight>
              </a:rPr>
              <a:t>MuJoCo: Physics simulation engine</a:t>
            </a:r>
            <a:endParaRPr sz="17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700"/>
              <a:buChar char="-"/>
            </a:pPr>
            <a:r>
              <a:rPr lang="ko" sz="1700">
                <a:solidFill>
                  <a:srgbClr val="0D0D0D"/>
                </a:solidFill>
                <a:highlight>
                  <a:srgbClr val="FFFFFF"/>
                </a:highlight>
              </a:rPr>
              <a:t>Brax: A differentiable physics engine</a:t>
            </a:r>
            <a:endParaRPr sz="17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700"/>
              <a:buChar char="-"/>
            </a:pPr>
            <a:r>
              <a:rPr lang="ko" sz="1700">
                <a:solidFill>
                  <a:srgbClr val="0D0D0D"/>
                </a:solidFill>
                <a:highlight>
                  <a:srgbClr val="FFFFFF"/>
                </a:highlight>
              </a:rPr>
              <a:t>4가지 물리 파이프라인 교체할 수 있으며, 전이 학습, 시뮬레이션과 실제 환경의 간극을 줄일 수 있음</a:t>
            </a:r>
            <a:endParaRPr sz="17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700"/>
              <a:buChar char="-"/>
            </a:pPr>
            <a:r>
              <a:rPr lang="ko" sz="1700">
                <a:solidFill>
                  <a:srgbClr val="0D0D0D"/>
                </a:solidFill>
                <a:highlight>
                  <a:srgbClr val="FFFFFF"/>
                </a:highlight>
              </a:rPr>
              <a:t>MuJoCo XLA, Generalized, Positional, Spring 등</a:t>
            </a:r>
            <a:endParaRPr sz="17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36550" lvl="2" marL="13716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700"/>
              <a:buChar char="-"/>
            </a:pPr>
            <a:r>
              <a:rPr lang="ko" sz="1700">
                <a:solidFill>
                  <a:srgbClr val="0D0D0D"/>
                </a:solidFill>
                <a:highlight>
                  <a:srgbClr val="FFFFFF"/>
                </a:highlight>
              </a:rPr>
              <a:t>ToddlerBot은 Brax의 일부 코드를 수정해서 사용함.</a:t>
            </a:r>
            <a:endParaRPr sz="17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36550" lvl="2" marL="13716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700"/>
              <a:buChar char="-"/>
            </a:pPr>
            <a:r>
              <a:rPr lang="ko" sz="1700">
                <a:solidFill>
                  <a:srgbClr val="0D0D0D"/>
                </a:solidFill>
                <a:highlight>
                  <a:srgbClr val="FFFFFF"/>
                </a:highlight>
              </a:rPr>
              <a:t>마이그레이션에 어려움이 있었음</a:t>
            </a:r>
            <a:endParaRPr sz="17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D0D0D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7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Sample Code</a:t>
            </a:r>
            <a:endParaRPr b="1" i="1" sz="2500"/>
          </a:p>
        </p:txBody>
      </p:sp>
      <p:sp>
        <p:nvSpPr>
          <p:cNvPr id="317" name="Google Shape;317;p37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8" name="Google Shape;31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37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320" name="Google Shape;320;p37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321" name="Google Shape;321;p37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 u="sng">
                <a:solidFill>
                  <a:schemeClr val="hlink"/>
                </a:solidFill>
                <a:highlight>
                  <a:srgbClr val="FFFFFF"/>
                </a:highlight>
                <a:hlinkClick r:id="rId4"/>
              </a:rPr>
              <a:t>Brax Training with MuJoCo XLA - MJX</a:t>
            </a:r>
            <a:endParaRPr sz="17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 u="sng">
                <a:solidFill>
                  <a:schemeClr val="hlink"/>
                </a:solidFill>
                <a:highlight>
                  <a:schemeClr val="lt1"/>
                </a:highlight>
                <a:hlinkClick r:id="rId5"/>
              </a:rPr>
              <a:t>Brax - basic</a:t>
            </a:r>
            <a:endParaRPr sz="1700">
              <a:solidFill>
                <a:srgbClr val="0D0D0D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8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Result - 1</a:t>
            </a:r>
            <a:endParaRPr b="1" i="1" sz="2500"/>
          </a:p>
        </p:txBody>
      </p:sp>
      <p:sp>
        <p:nvSpPr>
          <p:cNvPr id="327" name="Google Shape;327;p38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8" name="Google Shape;32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8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330" name="Google Shape;330;p38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331" name="Google Shape;331;p38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D0D0D"/>
              </a:solidFill>
              <a:highlight>
                <a:schemeClr val="lt1"/>
              </a:highlight>
            </a:endParaRPr>
          </a:p>
        </p:txBody>
      </p:sp>
      <p:pic>
        <p:nvPicPr>
          <p:cNvPr id="332" name="Google Shape;332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930" y="1563200"/>
            <a:ext cx="3732020" cy="283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38" title="WR1_샘플코드 실행 결과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54725" y="1575175"/>
            <a:ext cx="3814175" cy="2860625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8"/>
          <p:cNvSpPr txBox="1"/>
          <p:nvPr/>
        </p:nvSpPr>
        <p:spPr>
          <a:xfrm>
            <a:off x="6075825" y="4469725"/>
            <a:ext cx="209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ko" sz="1000">
                <a:solidFill>
                  <a:schemeClr val="dk2"/>
                </a:solidFill>
              </a:rPr>
              <a:t>RTX 5080: 3m 42s/ A100:6m</a:t>
            </a:r>
            <a:endParaRPr i="1" sz="10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9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Result - 2</a:t>
            </a:r>
            <a:endParaRPr b="1" i="1" sz="2500"/>
          </a:p>
        </p:txBody>
      </p:sp>
      <p:sp>
        <p:nvSpPr>
          <p:cNvPr id="340" name="Google Shape;340;p39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1" name="Google Shape;34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9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343" name="Google Shape;343;p39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344" name="Google Shape;344;p39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D0D0D"/>
              </a:solidFill>
              <a:highlight>
                <a:schemeClr val="lt1"/>
              </a:highlight>
            </a:endParaRPr>
          </a:p>
        </p:txBody>
      </p:sp>
      <p:sp>
        <p:nvSpPr>
          <p:cNvPr id="345" name="Google Shape;345;p39"/>
          <p:cNvSpPr txBox="1"/>
          <p:nvPr/>
        </p:nvSpPr>
        <p:spPr>
          <a:xfrm>
            <a:off x="6075825" y="4469725"/>
            <a:ext cx="209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ko" sz="1000">
                <a:solidFill>
                  <a:schemeClr val="dk2"/>
                </a:solidFill>
              </a:rPr>
              <a:t>RTX 5080: 4m 45s/ A100:6m</a:t>
            </a:r>
            <a:endParaRPr i="1" sz="1000">
              <a:solidFill>
                <a:schemeClr val="dk2"/>
              </a:solidFill>
            </a:endParaRPr>
          </a:p>
        </p:txBody>
      </p:sp>
      <p:pic>
        <p:nvPicPr>
          <p:cNvPr id="346" name="Google Shape;346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3650" y="1294097"/>
            <a:ext cx="4091925" cy="331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39" title="WR1_샘플코드 실행 결과 2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73375" y="1386463"/>
            <a:ext cx="2346094" cy="31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0"/>
          <p:cNvSpPr txBox="1"/>
          <p:nvPr>
            <p:ph type="title"/>
          </p:nvPr>
        </p:nvSpPr>
        <p:spPr>
          <a:xfrm>
            <a:off x="235500" y="2233450"/>
            <a:ext cx="8520600" cy="65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/>
              <a:t>Training ToddlerBot with Brax</a:t>
            </a:r>
            <a:endParaRPr b="1"/>
          </a:p>
        </p:txBody>
      </p:sp>
      <p:sp>
        <p:nvSpPr>
          <p:cNvPr id="353" name="Google Shape;353;p40"/>
          <p:cNvSpPr/>
          <p:nvPr/>
        </p:nvSpPr>
        <p:spPr>
          <a:xfrm>
            <a:off x="245225" y="2884850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4" name="Google Shape;35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40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356" name="Google Shape;356;p40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357" name="Google Shape;357;p40"/>
          <p:cNvSpPr txBox="1"/>
          <p:nvPr/>
        </p:nvSpPr>
        <p:spPr>
          <a:xfrm>
            <a:off x="6079075" y="2910050"/>
            <a:ext cx="259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ko">
                <a:solidFill>
                  <a:srgbClr val="4A86E8"/>
                </a:solidFill>
              </a:rPr>
              <a:t>Ubuntu 24.04</a:t>
            </a:r>
            <a:endParaRPr i="1">
              <a:solidFill>
                <a:srgbClr val="4A86E8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1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Troubleshooting Notes</a:t>
            </a:r>
            <a:endParaRPr b="1" i="1" sz="2500"/>
          </a:p>
        </p:txBody>
      </p:sp>
      <p:sp>
        <p:nvSpPr>
          <p:cNvPr id="363" name="Google Shape;363;p41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4" name="Google Shape;36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41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Brax migration 오류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더 정확한 시뮬레이션을 위한 마이그레이션 진행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State에서 문제 발생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JAX, Numpy 충돌 오류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일부 함수에서 Numpy를 사용해 JAX 추적 중 오류 발생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actuator 크기 충돌 오류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 u="sng">
                <a:solidFill>
                  <a:schemeClr val="accent5"/>
                </a:solidFill>
                <a:highlight>
                  <a:schemeClr val="lt1"/>
                </a:highlight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env.sys.nu</a:t>
            </a: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의 크기는 30, 하지만 step함수에서 12를 요구함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Cuda 버전 문제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Cuda 12.0으로 설치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</p:txBody>
      </p:sp>
      <p:sp>
        <p:nvSpPr>
          <p:cNvPr id="366" name="Google Shape;366;p41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367" name="Google Shape;367;p41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2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Problem 1. Brax </a:t>
            </a:r>
            <a:endParaRPr b="1" i="1" sz="2500"/>
          </a:p>
        </p:txBody>
      </p:sp>
      <p:sp>
        <p:nvSpPr>
          <p:cNvPr id="373" name="Google Shape;373;p42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4" name="Google Shape;37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42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아래 명령어를 통해 최신 버전의 jax, brax 마이그레이션 수행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0D0D0D"/>
                </a:solidFill>
                <a:highlight>
                  <a:schemeClr val="lt1"/>
                </a:highlight>
              </a:rPr>
              <a:t>Root Causes</a:t>
            </a:r>
            <a:endParaRPr b="1"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toddlerbot에서 사용되는 brax는 일부 코드가 수정되어 있음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아래 코드 추가 후 테스트 시 오류 없음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</p:txBody>
      </p:sp>
      <p:sp>
        <p:nvSpPr>
          <p:cNvPr id="376" name="Google Shape;376;p42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377" name="Google Shape;377;p42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378" name="Google Shape;378;p42"/>
          <p:cNvSpPr txBox="1"/>
          <p:nvPr/>
        </p:nvSpPr>
        <p:spPr>
          <a:xfrm>
            <a:off x="709450" y="1594350"/>
            <a:ext cx="8056500" cy="404100"/>
          </a:xfrm>
          <a:prstGeom prst="rect">
            <a:avLst/>
          </a:prstGeom>
          <a:solidFill>
            <a:srgbClr val="2727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pip install -U "jax[cuda12]" brax</a:t>
            </a:r>
            <a:endParaRPr sz="1000">
              <a:solidFill>
                <a:srgbClr val="F0F0F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79" name="Google Shape;379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150" y="2983120"/>
            <a:ext cx="4283474" cy="179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42"/>
          <p:cNvSpPr/>
          <p:nvPr/>
        </p:nvSpPr>
        <p:spPr>
          <a:xfrm>
            <a:off x="651625" y="3774575"/>
            <a:ext cx="2611800" cy="302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3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Problem 2. </a:t>
            </a:r>
            <a:r>
              <a:rPr b="1" lang="ko" sz="2500"/>
              <a:t>JAX, Numpy 충돌 오류</a:t>
            </a:r>
            <a:endParaRPr b="1" i="1" sz="2500"/>
          </a:p>
        </p:txBody>
      </p:sp>
      <p:sp>
        <p:nvSpPr>
          <p:cNvPr id="386" name="Google Shape;386;p43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7" name="Google Shape;38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43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아래 환경변수 추가 후 오류 해결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0D0D0D"/>
                </a:solidFill>
                <a:highlight>
                  <a:schemeClr val="lt1"/>
                </a:highlight>
              </a:rPr>
              <a:t>Root Causes</a:t>
            </a:r>
            <a:endParaRPr b="1"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toddlerbot에서 jax사용 여부는 환경변수를 통해 판단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기본 false이므로 코드를 jax로 실행했을 때 오류가 발생함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</p:txBody>
      </p:sp>
      <p:sp>
        <p:nvSpPr>
          <p:cNvPr id="389" name="Google Shape;389;p43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390" name="Google Shape;390;p43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391" name="Google Shape;391;p43"/>
          <p:cNvSpPr txBox="1"/>
          <p:nvPr/>
        </p:nvSpPr>
        <p:spPr>
          <a:xfrm>
            <a:off x="709450" y="3268800"/>
            <a:ext cx="8056500" cy="1503600"/>
          </a:xfrm>
          <a:prstGeom prst="rect">
            <a:avLst/>
          </a:prstGeom>
          <a:solidFill>
            <a:srgbClr val="2727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MotionReference(ABC):</a:t>
            </a:r>
            <a:endParaRPr sz="900">
              <a:solidFill>
                <a:srgbClr val="F0F0F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ko" sz="900">
                <a:solidFill>
                  <a:srgbClr val="FFD50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"""Abstract class for generating motion references for the toddlerbot robot."""</a:t>
            </a:r>
            <a:endParaRPr sz="900">
              <a:solidFill>
                <a:srgbClr val="FFD50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ko" sz="9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__init__(...):</a:t>
            </a:r>
            <a:endParaRPr sz="900">
              <a:solidFill>
                <a:srgbClr val="F0F0F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ko" sz="900">
                <a:solidFill>
                  <a:srgbClr val="FFD50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"""Initializes the motion controller for a robot with specified parameters.</a:t>
            </a:r>
            <a:endParaRPr sz="900">
              <a:solidFill>
                <a:srgbClr val="FFD50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00">
                <a:solidFill>
                  <a:srgbClr val="FFD50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		...</a:t>
            </a:r>
            <a:endParaRPr sz="900">
              <a:solidFill>
                <a:srgbClr val="FFD50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00">
                <a:solidFill>
                  <a:srgbClr val="FFD50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		"""</a:t>
            </a:r>
            <a:endParaRPr sz="900">
              <a:solidFill>
                <a:srgbClr val="FFD50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		...</a:t>
            </a:r>
            <a:endParaRPr sz="900">
              <a:solidFill>
                <a:srgbClr val="F0F0F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ko" sz="900">
                <a:solidFill>
                  <a:srgbClr val="4BE6FA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.use_jax </a:t>
            </a:r>
            <a:r>
              <a:rPr lang="ko" sz="9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os.environ.get(</a:t>
            </a:r>
            <a:r>
              <a:rPr lang="ko" sz="900">
                <a:solidFill>
                  <a:srgbClr val="FFD50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"USE_JAX"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ko" sz="900">
                <a:solidFill>
                  <a:srgbClr val="FFD50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"false"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ko" sz="9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ko" sz="900">
                <a:solidFill>
                  <a:srgbClr val="FFD50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"true"</a:t>
            </a:r>
            <a:endParaRPr sz="900">
              <a:solidFill>
                <a:srgbClr val="FFD50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0F0F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92" name="Google Shape;392;p43"/>
          <p:cNvSpPr txBox="1"/>
          <p:nvPr/>
        </p:nvSpPr>
        <p:spPr>
          <a:xfrm>
            <a:off x="709450" y="1594350"/>
            <a:ext cx="8056500" cy="404100"/>
          </a:xfrm>
          <a:prstGeom prst="rect">
            <a:avLst/>
          </a:prstGeom>
          <a:solidFill>
            <a:srgbClr val="2727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os.environ[</a:t>
            </a:r>
            <a:r>
              <a:rPr lang="ko" sz="900">
                <a:solidFill>
                  <a:srgbClr val="FFD50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"USE_JAX"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ko" sz="900">
                <a:solidFill>
                  <a:srgbClr val="FF3399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ko" sz="900">
                <a:solidFill>
                  <a:srgbClr val="F0F0F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ko" sz="900">
                <a:solidFill>
                  <a:srgbClr val="FFD500"/>
                </a:solidFill>
                <a:highlight>
                  <a:srgbClr val="272727"/>
                </a:highlight>
                <a:latin typeface="Courier New"/>
                <a:ea typeface="Courier New"/>
                <a:cs typeface="Courier New"/>
                <a:sym typeface="Courier New"/>
              </a:rPr>
              <a:t>"true"</a:t>
            </a:r>
            <a:endParaRPr sz="1000">
              <a:solidFill>
                <a:srgbClr val="F0F0F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4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Problem 3. </a:t>
            </a:r>
            <a:r>
              <a:rPr b="1" lang="ko" sz="2500"/>
              <a:t>actuator 크기 충돌 오류</a:t>
            </a:r>
            <a:endParaRPr b="1" i="1" sz="2500"/>
          </a:p>
        </p:txBody>
      </p:sp>
      <p:sp>
        <p:nvSpPr>
          <p:cNvPr id="398" name="Google Shape;398;p44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9" name="Google Shape;39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44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크기를 12로 고정해서 넘김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0D0D0D"/>
                </a:solidFill>
                <a:highlight>
                  <a:schemeClr val="lt1"/>
                </a:highlight>
              </a:rPr>
              <a:t>Root Causes</a:t>
            </a:r>
            <a:endParaRPr b="1"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toddlerbot/locomotion/mjx_env.py:593 에서 문제 발생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actuator의 설정값이 다른 것으로 추측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</p:txBody>
      </p:sp>
      <p:sp>
        <p:nvSpPr>
          <p:cNvPr id="401" name="Google Shape;401;p44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402" name="Google Shape;402;p44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403" name="Google Shape;403;p44"/>
          <p:cNvSpPr txBox="1"/>
          <p:nvPr/>
        </p:nvSpPr>
        <p:spPr>
          <a:xfrm>
            <a:off x="709450" y="1594350"/>
            <a:ext cx="8056500" cy="404100"/>
          </a:xfrm>
          <a:prstGeom prst="rect">
            <a:avLst/>
          </a:prstGeom>
          <a:solidFill>
            <a:srgbClr val="2727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ko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ctrl</a:t>
            </a: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ko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ko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ko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0.1</a:t>
            </a: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ko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ko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jnp</a:t>
            </a: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ko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ones</a:t>
            </a: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((</a:t>
            </a:r>
            <a:r>
              <a:rPr lang="ko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12</a:t>
            </a: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,), </a:t>
            </a:r>
            <a:r>
              <a:rPr lang="ko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dtype</a:t>
            </a:r>
            <a:r>
              <a:rPr lang="ko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ko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jnp</a:t>
            </a: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ko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float32</a:t>
            </a:r>
            <a:r>
              <a:rPr lang="ko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  </a:t>
            </a:r>
            <a:endParaRPr sz="900">
              <a:solidFill>
                <a:srgbClr val="F0F0F0"/>
              </a:solidFill>
              <a:highlight>
                <a:srgbClr val="272727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04" name="Google Shape;404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9450" y="3213725"/>
            <a:ext cx="4643926" cy="89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5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Result - 1</a:t>
            </a:r>
            <a:endParaRPr b="1" i="1" sz="2500"/>
          </a:p>
        </p:txBody>
      </p:sp>
      <p:sp>
        <p:nvSpPr>
          <p:cNvPr id="410" name="Google Shape;410;p45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1" name="Google Shape;41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45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413" name="Google Shape;413;p45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414" name="Google Shape;414;p45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D0D0D"/>
              </a:solidFill>
              <a:highlight>
                <a:schemeClr val="lt1"/>
              </a:highlight>
            </a:endParaRPr>
          </a:p>
        </p:txBody>
      </p:sp>
      <p:pic>
        <p:nvPicPr>
          <p:cNvPr id="415" name="Google Shape;415;p45" title="WR2 toddlerbot 실행 결과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08200" y="1382638"/>
            <a:ext cx="4327600" cy="324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6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Training ToddlerBot with Brax</a:t>
            </a:r>
            <a:endParaRPr b="1" i="1" sz="2500"/>
          </a:p>
        </p:txBody>
      </p:sp>
      <p:sp>
        <p:nvSpPr>
          <p:cNvPr id="421" name="Google Shape;421;p46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커스텀된 Brax를 사용하지 않고, 최신의 Brax를 이용해 간단한 샘플 코드 실행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toddlerbot/locomotion/train_mjx.py를 참고하여 코드 작성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learning_rate_schedule_fn, randomization_fn 등 여러 옵션 무시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randomization_fn 추가시 JAX Tracer Leak 발생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누수가 버전에 따른 것인지 교차 확인 필요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Toddlerbot의 train 코드 실행 예정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toddlerbot.locomotion.walk_env.WalkEnv에서 train 진행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sp>
        <p:nvSpPr>
          <p:cNvPr id="422" name="Google Shape;422;p46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3" name="Google Shape;42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46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425" name="Google Shape;425;p46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7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PPO Configure</a:t>
            </a:r>
            <a:endParaRPr b="1" i="1" sz="2500"/>
          </a:p>
        </p:txBody>
      </p:sp>
      <p:sp>
        <p:nvSpPr>
          <p:cNvPr id="431" name="Google Shape;431;p47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2" name="Google Shape;432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47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434" name="Google Shape;434;p47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435" name="Google Shape;435;p47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D0D0D"/>
              </a:solidFill>
              <a:highlight>
                <a:schemeClr val="lt1"/>
              </a:highlight>
            </a:endParaRPr>
          </a:p>
        </p:txBody>
      </p:sp>
      <p:pic>
        <p:nvPicPr>
          <p:cNvPr id="436" name="Google Shape;436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0525" y="1258696"/>
            <a:ext cx="3354826" cy="350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25975" y="1258699"/>
            <a:ext cx="3773936" cy="350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8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Result</a:t>
            </a:r>
            <a:endParaRPr b="1" i="1" sz="2500"/>
          </a:p>
        </p:txBody>
      </p:sp>
      <p:sp>
        <p:nvSpPr>
          <p:cNvPr id="443" name="Google Shape;443;p48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4" name="Google Shape;44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48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446" name="Google Shape;446;p48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447" name="Google Shape;447;p48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D0D0D"/>
              </a:solidFill>
              <a:highlight>
                <a:schemeClr val="lt1"/>
              </a:highlight>
            </a:endParaRPr>
          </a:p>
        </p:txBody>
      </p:sp>
      <p:pic>
        <p:nvPicPr>
          <p:cNvPr id="448" name="Google Shape;448;p48"/>
          <p:cNvPicPr preferRelativeResize="0"/>
          <p:nvPr/>
        </p:nvPicPr>
        <p:blipFill rotWithShape="1">
          <a:blip r:embed="rId4">
            <a:alphaModFix/>
          </a:blip>
          <a:srcRect b="0" l="0" r="16485" t="0"/>
          <a:stretch/>
        </p:blipFill>
        <p:spPr>
          <a:xfrm>
            <a:off x="1451263" y="1514450"/>
            <a:ext cx="6089075" cy="287515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48"/>
          <p:cNvSpPr txBox="1"/>
          <p:nvPr/>
        </p:nvSpPr>
        <p:spPr>
          <a:xfrm>
            <a:off x="6075825" y="4469725"/>
            <a:ext cx="209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ko" sz="1000">
                <a:solidFill>
                  <a:schemeClr val="dk2"/>
                </a:solidFill>
              </a:rPr>
              <a:t>RTX 5080: 3h 43m 43s</a:t>
            </a:r>
            <a:endParaRPr i="1"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9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Result - Video</a:t>
            </a:r>
            <a:endParaRPr b="1" i="1" sz="2500"/>
          </a:p>
        </p:txBody>
      </p:sp>
      <p:sp>
        <p:nvSpPr>
          <p:cNvPr id="455" name="Google Shape;455;p49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6" name="Google Shape;45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49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458" name="Google Shape;458;p49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459" name="Google Shape;459;p49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D0D0D"/>
              </a:solidFill>
              <a:highlight>
                <a:schemeClr val="lt1"/>
              </a:highlight>
            </a:endParaRPr>
          </a:p>
        </p:txBody>
      </p:sp>
      <p:sp>
        <p:nvSpPr>
          <p:cNvPr id="460" name="Google Shape;460;p49"/>
          <p:cNvSpPr txBox="1"/>
          <p:nvPr/>
        </p:nvSpPr>
        <p:spPr>
          <a:xfrm>
            <a:off x="6075825" y="4469725"/>
            <a:ext cx="209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ko" sz="1000">
                <a:solidFill>
                  <a:schemeClr val="dk2"/>
                </a:solidFill>
              </a:rPr>
              <a:t>RTX 5080: 3h 43m 43s</a:t>
            </a:r>
            <a:endParaRPr i="1" sz="1000">
              <a:solidFill>
                <a:schemeClr val="dk2"/>
              </a:solidFill>
            </a:endParaRPr>
          </a:p>
        </p:txBody>
      </p:sp>
      <p:pic>
        <p:nvPicPr>
          <p:cNvPr id="461" name="Google Shape;461;p49" title="WR2_toddlerbot 학습 실행 결과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1412" y="1299925"/>
            <a:ext cx="3054533" cy="3436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49" title="WR2_toddlerbot 학습 실행 결과 2.mp4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45655" y="1299925"/>
            <a:ext cx="3054533" cy="3436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0"/>
          <p:cNvSpPr txBox="1"/>
          <p:nvPr>
            <p:ph type="title"/>
          </p:nvPr>
        </p:nvSpPr>
        <p:spPr>
          <a:xfrm>
            <a:off x="235500" y="2233450"/>
            <a:ext cx="8520600" cy="65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/>
              <a:t>Graphics..?</a:t>
            </a:r>
            <a:endParaRPr b="1"/>
          </a:p>
        </p:txBody>
      </p:sp>
      <p:sp>
        <p:nvSpPr>
          <p:cNvPr id="468" name="Google Shape;468;p50"/>
          <p:cNvSpPr/>
          <p:nvPr/>
        </p:nvSpPr>
        <p:spPr>
          <a:xfrm>
            <a:off x="245225" y="2884850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9" name="Google Shape;46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50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471" name="Google Shape;471;p50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472" name="Google Shape;472;p50"/>
          <p:cNvSpPr txBox="1"/>
          <p:nvPr/>
        </p:nvSpPr>
        <p:spPr>
          <a:xfrm>
            <a:off x="6079075" y="2910050"/>
            <a:ext cx="259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ko" u="sng">
                <a:solidFill>
                  <a:schemeClr val="hlink"/>
                </a:solidFill>
                <a:hlinkClick r:id="rId4"/>
              </a:rPr>
              <a:t>notion link</a:t>
            </a:r>
            <a:endParaRPr i="1">
              <a:solidFill>
                <a:srgbClr val="4A86E8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