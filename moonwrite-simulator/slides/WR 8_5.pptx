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f2f1416b3_5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f2f1416b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f2f1416b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f2f1416b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7402af2c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7402af2c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402af2c1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402af2c1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403439a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403439a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403439a1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7403439a1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403439a1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403439a1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403439a1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7403439a1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402af2c13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7402af2c1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402af2c1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402af2c1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403439a1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7403439a1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402af2c1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402af2c1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403439a18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7403439a18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4196903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74196903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hyperlink" Target="https://arxiv.org/abs/2502.05817" TargetMode="External"/><Relationship Id="rId5" Type="http://schemas.openxmlformats.org/officeDocument/2006/relationships/hyperlink" Target="https://ieeexplore.ieee.org/stamp/stamp.jsp?tp=&amp;arnumber=10305254" TargetMode="External"/><Relationship Id="rId6" Type="http://schemas.openxmlformats.org/officeDocument/2006/relationships/hyperlink" Target="https://ieeexplore.ieee.org/stamp/stamp.jsp?tp=&amp;arnumber=4651110" TargetMode="External"/><Relationship Id="rId7" Type="http://schemas.openxmlformats.org/officeDocument/2006/relationships/hyperlink" Target="https://ieeexplore.ieee.org/stamp/stamp.jsp?tp=&amp;arnumber=10919684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rxiv.org/abs/2502.05817" TargetMode="External"/><Relationship Id="rId4" Type="http://schemas.openxmlformats.org/officeDocument/2006/relationships/image" Target="../media/image2.png"/><Relationship Id="rId5" Type="http://schemas.openxmlformats.org/officeDocument/2006/relationships/hyperlink" Target="http://www.youtube.com/watch?v=w21ngs6aL08" TargetMode="External"/><Relationship Id="rId6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ieeexplore.ieee.org/stamp/stamp.jsp?tp=&amp;arnumber=10305254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ieeexplore.ieee.org/stamp/stamp.jsp?tp=&amp;arnumber=4651110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ieeexplore.ieee.org/stamp/stamp.jsp?tp=&amp;arnumber=10919684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150" y="0"/>
            <a:ext cx="9144000" cy="601500"/>
          </a:xfrm>
          <a:prstGeom prst="rect">
            <a:avLst/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76200">
              <a:srgbClr val="595959">
                <a:alpha val="16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311700" y="1447000"/>
            <a:ext cx="8520600" cy="9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90500" rtl="0" algn="ctr">
              <a:lnSpc>
                <a:spcPct val="91283"/>
              </a:lnSpc>
              <a:spcBef>
                <a:spcPts val="600"/>
              </a:spcBef>
              <a:spcAft>
                <a:spcPts val="900"/>
              </a:spcAft>
              <a:buNone/>
            </a:pPr>
            <a:r>
              <a:rPr b="1" lang="ko" sz="32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Weekly Report 2025-08-05</a:t>
            </a:r>
            <a:endParaRPr b="1" sz="52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2661775"/>
            <a:ext cx="8520600" cy="19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595959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solidFill>
                  <a:schemeClr val="dk1"/>
                </a:solidFill>
                <a:highlight>
                  <a:srgbClr val="FFFFFF"/>
                </a:highlight>
              </a:rPr>
              <a:t>Written on Aug 4, 2025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solidFill>
                  <a:srgbClr val="000000"/>
                </a:solidFill>
                <a:highlight>
                  <a:srgbClr val="FFFFFF"/>
                </a:highlight>
              </a:rPr>
              <a:t>Presenter : </a:t>
            </a:r>
            <a:r>
              <a:rPr i="1" lang="ko" sz="2800">
                <a:highlight>
                  <a:srgbClr val="FFFFFF"/>
                </a:highlight>
              </a:rPr>
              <a:t>EunwooSong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ko" sz="2800">
                <a:highlight>
                  <a:srgbClr val="FFFFFF"/>
                </a:highlight>
              </a:rPr>
              <a:t>song200348@gmail.com</a:t>
            </a:r>
            <a:endParaRPr i="1" sz="28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" name="Google Shape;59;p13"/>
          <p:cNvCxnSpPr/>
          <p:nvPr/>
        </p:nvCxnSpPr>
        <p:spPr>
          <a:xfrm>
            <a:off x="361375" y="1408050"/>
            <a:ext cx="8309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3"/>
          <p:cNvCxnSpPr/>
          <p:nvPr/>
        </p:nvCxnSpPr>
        <p:spPr>
          <a:xfrm>
            <a:off x="361375" y="2430100"/>
            <a:ext cx="83091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6079075" y="2452175"/>
            <a:ext cx="259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ko">
                <a:solidFill>
                  <a:srgbClr val="4A86E8"/>
                </a:solidFill>
              </a:rPr>
              <a:t>ToddlerBot Simulation</a:t>
            </a:r>
            <a:endParaRPr i="1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000"/>
              <a:t>Overview</a:t>
            </a:r>
            <a:endParaRPr b="1" sz="3000"/>
          </a:p>
        </p:txBody>
      </p:sp>
      <p:sp>
        <p:nvSpPr>
          <p:cNvPr id="68" name="Google Shape;68;p14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Background</a:t>
            </a:r>
            <a:endParaRPr b="1" i="1" sz="2500"/>
          </a:p>
        </p:txBody>
      </p:sp>
      <p:sp>
        <p:nvSpPr>
          <p:cNvPr id="77" name="Google Shape;77;p15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로봇의 장기 운용에서 발열로 인항 성능 저하는 시스템 안정성에 영향을 미친다.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훈련 과정에서 로봇은 항상 이상적인 모터 상황을 가정하고 학습을 진행한다.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이는 고장 상황에 대처하기 어렵고, sim to real gap을 크게하는 여러 요인 중 하나나이다.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시뮬레이션 단계에서 모터의 부하에 따른 발열을 계산하고, 이에 따른 토크 제한을 계산해 Agent가 Thermal에 따른 토크 제한을 학습하여 예측 가능한 고장에 대응하고자 한다.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또한, Agent가 본인의 thermal of actuator를 인식하고 이에 따라 적절한 동작을 수립하도록 한다.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Related Work &amp; Limitations</a:t>
            </a:r>
            <a:endParaRPr b="1" i="1" sz="2500"/>
          </a:p>
        </p:txBody>
      </p:sp>
      <p:sp>
        <p:nvSpPr>
          <p:cNvPr id="87" name="Google Shape;87;p16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245225" y="12238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 sz="18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DreamFLEX</a:t>
            </a:r>
            <a:r>
              <a:rPr lang="ko" sz="1800">
                <a:solidFill>
                  <a:schemeClr val="dk1"/>
                </a:solidFill>
              </a:rPr>
              <a:t>: Learning Fault-Aware Quadrupedal Locomotion Controller for Anomaly Situation in Rough Terrains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 sz="18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FT-Net</a:t>
            </a:r>
            <a:r>
              <a:rPr lang="ko" sz="1800">
                <a:solidFill>
                  <a:schemeClr val="dk1"/>
                </a:solidFill>
              </a:rPr>
              <a:t>: Learning Failure Recovery and Fault-Tolerant Locomotion for Quadruped Robots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 u="sng">
                <a:solidFill>
                  <a:schemeClr val="hlink"/>
                </a:solidFill>
                <a:highlight>
                  <a:srgbClr val="FFFFFF"/>
                </a:highlight>
                <a:hlinkClick r:id="rId6"/>
              </a:rPr>
              <a:t>Thermal Control of Electrical Motors for High-Power Humanoid Robots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 u="sng">
                <a:solidFill>
                  <a:schemeClr val="hlink"/>
                </a:solidFill>
                <a:highlight>
                  <a:srgbClr val="FFFFFF"/>
                </a:highlight>
                <a:hlinkClick r:id="rId7"/>
              </a:rPr>
              <a:t>Temperature </a:t>
            </a: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Predictions for PMSM motors using Deep Learning Algorithms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000" u="sng">
                <a:solidFill>
                  <a:schemeClr val="hlink"/>
                </a:solidFill>
                <a:hlinkClick r:id="rId3"/>
              </a:rPr>
              <a:t>DreamFLEX</a:t>
            </a:r>
            <a:r>
              <a:rPr b="1" lang="ko" sz="2000"/>
              <a:t>: Learning Fault-Aware Quadrupedal Locomotion Controller for Anomaly Situation in Rough Terrains</a:t>
            </a:r>
            <a:endParaRPr b="1" sz="2000"/>
          </a:p>
        </p:txBody>
      </p:sp>
      <p:sp>
        <p:nvSpPr>
          <p:cNvPr id="97" name="Google Shape;97;p17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험지에서의 이상 상황에 대한 결함을 다음으로 정의하고, 이를 학습해 sim2real gap을 최소화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잠긴 관절: 외부 충격 등으로 인해 특정 관절이 고정되거나 움직임 범위 제한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약화된 모터: 과열, 전력 부족 등으로 특정 관절 모터가 정상적인 토크 발생 제한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0D0D0D"/>
                </a:solidFill>
                <a:highlight>
                  <a:srgbClr val="FFFFFF"/>
                </a:highlight>
              </a:rPr>
              <a:t>*  빨간색 원은 결함이 생긴 관절을 의미</a:t>
            </a:r>
            <a:endParaRPr sz="16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pic>
        <p:nvPicPr>
          <p:cNvPr descr="Video for ICRA2025 submission&#10;&#10;DreamFLEX: Learning Fault-Aware Quadrupedal Locomotion Controller for Anomaly Situation in Rough Terrains" id="102" name="Google Shape;102;p17" title="Learning Fault-Aware Quadrupedal Locomotion Controller for Anomaly Situation in Rough Terrains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2750" y="2444775"/>
            <a:ext cx="4073350" cy="22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000" u="sng">
                <a:solidFill>
                  <a:schemeClr val="hlink"/>
                </a:solidFill>
                <a:hlinkClick r:id="rId3"/>
              </a:rPr>
              <a:t>FT-Net</a:t>
            </a:r>
            <a:r>
              <a:rPr b="1" lang="ko" sz="2000"/>
              <a:t>: Learning Failure Recovery and Fault-Tolerant Locomotion for Quadruped Robots</a:t>
            </a:r>
            <a:endParaRPr b="1" sz="2000"/>
          </a:p>
        </p:txBody>
      </p:sp>
      <p:sp>
        <p:nvSpPr>
          <p:cNvPr id="108" name="Google Shape;108;p18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6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혹독하고 위험한 환경에서 발생할 수 있는 로봇의 내고장성을 고려해야한다.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FT-Net을 통해 고장 관리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실제 토크에 고장 계수를 곱하여 토크를 계산하고 이를 시뮬레이션 한다.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다양한 고장 상황에서도 보행할 수 있는 범용적인 정책을 학습하는 것이 목표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4988" y="2365954"/>
            <a:ext cx="8821226" cy="2522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000" u="sng">
                <a:solidFill>
                  <a:schemeClr val="hlink"/>
                </a:solidFill>
                <a:hlinkClick r:id="rId3"/>
              </a:rPr>
              <a:t>Thermal Control </a:t>
            </a:r>
            <a:r>
              <a:rPr b="1" lang="ko" sz="2000"/>
              <a:t>of Electrical Motors for High-Power Humanoid Robots</a:t>
            </a:r>
            <a:endParaRPr b="1" sz="2000"/>
          </a:p>
        </p:txBody>
      </p:sp>
      <p:sp>
        <p:nvSpPr>
          <p:cNvPr id="119" name="Google Shape;119;p19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전기 모터의 최대 성능을 안전하게 활용하기 위해 수냉을 적용해 안정적으로 활용하는 방법을 제안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사진의 파란색 점선은 개조된 모터로, 장기적으로 모터를 사용할 수 있다는 의미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센서 정보로부터 모터의 권선 온도, 코어 온도를 계산한다.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모터 온도 계산을 위해 two-resister model을 사용한다.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7045" y="2318625"/>
            <a:ext cx="2849125" cy="244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213" y="3159175"/>
            <a:ext cx="3019425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1399" y="3159175"/>
            <a:ext cx="3019425" cy="1234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000" u="sng">
                <a:solidFill>
                  <a:schemeClr val="hlink"/>
                </a:solidFill>
                <a:hlinkClick r:id="rId3"/>
              </a:rPr>
              <a:t>Temperature Predictions </a:t>
            </a:r>
            <a:r>
              <a:rPr b="1" lang="ko" sz="2000"/>
              <a:t>for PMSM motors using Deep Learning Algorithms</a:t>
            </a:r>
            <a:endParaRPr b="1" sz="2000"/>
          </a:p>
        </p:txBody>
      </p:sp>
      <p:sp>
        <p:nvSpPr>
          <p:cNvPr id="132" name="Google Shape;132;p20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0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PMSM 모터의 온도 예측을 위해 CNN 모델을 제안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입력 값으로 주변 온도, 냉각수 온도, 토크, 모터 속도, 전압, 전류, 영구자석 표면 온도를 입력으로 사용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PMSM 고정자, 권선, 요크 등 온도를 예측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온도에 영향을 미치는 계수를 시각화한 히트맵: 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5375" y="2448304"/>
            <a:ext cx="2947201" cy="2582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Problem Statement</a:t>
            </a:r>
            <a:endParaRPr b="1" i="1" sz="2500"/>
          </a:p>
        </p:txBody>
      </p:sp>
      <p:sp>
        <p:nvSpPr>
          <p:cNvPr id="143" name="Google Shape;143;p21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1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기존 강화학습 기반 제어는 주로 단기적이거나 예측 불가능한 상황에 대한 대응에 집중되어 있다.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그러나 장기 운용할 경우, 발열 누적에 따른 토크 제한과 성능 저하, 그리고 저항 증가로 인한 전력의 증가 문제 또한 발생한다.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따라서, 안정성을 확보하기 위해 actuator의 발열 특성을 고려한 제어 정책 학습이 필요하다.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146" name="Google Shape;146;p21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2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Approach - 1</a:t>
            </a:r>
            <a:endParaRPr b="1" i="1" sz="2500"/>
          </a:p>
        </p:txBody>
      </p:sp>
      <p:sp>
        <p:nvSpPr>
          <p:cNvPr id="153" name="Google Shape;153;p22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발열 시뮬레이션 (Thermal Simulation)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토크, 속도, 주변 온도 등을 통해 모터 온도, 토크 제한 변화를 시뮬레이션 한다.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장기 운용에서 누적 발열을 정량화할 수 있는 가상 환경을 제공한다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Thermal Policy Learning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장기 안정성을 목표로 정책을 학습함(보상 함수 설계)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장기적 과부하 및 발열 방지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에너지 효율성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기본 작업 수행 성능 유지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성능 검증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시뮬레이션 상에서 발열 누적, 토크 제한 발생률, 안정성 등을 평가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real world Agent 비교 실험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Approach - 2</a:t>
            </a:r>
            <a:endParaRPr b="1" i="1" sz="2500"/>
          </a:p>
        </p:txBody>
      </p:sp>
      <p:sp>
        <p:nvSpPr>
          <p:cNvPr id="163" name="Google Shape;163;p23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실시간 발열 인식과 예측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lphaL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센서, 발열 모델 등을 통해 모터의 현재 발열 상태를 추정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lphaL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학습된 발열 모델을 통해 모터의 발열을 예측함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장기 동작 계획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lphaL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MPC, RL Planner를 통해 계획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lphaL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현재 발열 상태와 예상 발열 증가 등을 고려하여 동작을 계획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안정성 보장 정책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lphaL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계획된 동작을 수행하면서, 발열 한계에 도달할 경우 동작 조정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romanL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토크 스케일링, 궤적 완화, 다른 관절 이용 등의 전략 수행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166" name="Google Shape;166;p23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67" name="Google Shape;167;p23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Contributions - 1</a:t>
            </a:r>
            <a:endParaRPr b="1" i="1" sz="2500"/>
          </a:p>
        </p:txBody>
      </p:sp>
      <p:sp>
        <p:nvSpPr>
          <p:cNvPr id="173" name="Google Shape;173;p24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4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발열 시뮬레이션 환경 구축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모터의 특성을 시뮬레이션하는 가상 환경을 개발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정책 학습에 발열 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장기 안정성 강화 정책 학습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발열에 따른 보상 함수를 설계하여 RL 기반 장기 안정성 정책을 Agent가 학습함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장기간 운용 상황에서 열 상태를 인지하고, 토크가 제한되는 상황에서 적절히 대응할 수 있도록 함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성능 검증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성능 검증을 통해 sim to real의 gap을 최소화하고 유의미하게 적용 가능함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176" name="Google Shape;176;p24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77" name="Google Shape;177;p24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type="title"/>
          </p:nvPr>
        </p:nvSpPr>
        <p:spPr>
          <a:xfrm>
            <a:off x="235500" y="5497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500"/>
              <a:t>Contributions - 2</a:t>
            </a:r>
            <a:endParaRPr b="1" i="1" sz="2500"/>
          </a:p>
        </p:txBody>
      </p:sp>
      <p:sp>
        <p:nvSpPr>
          <p:cNvPr id="183" name="Google Shape;183;p25"/>
          <p:cNvSpPr/>
          <p:nvPr/>
        </p:nvSpPr>
        <p:spPr>
          <a:xfrm>
            <a:off x="245225" y="1122425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5"/>
          <p:cNvSpPr txBox="1"/>
          <p:nvPr/>
        </p:nvSpPr>
        <p:spPr>
          <a:xfrm>
            <a:off x="245225" y="1147625"/>
            <a:ext cx="8520600" cy="32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실시간 발열 인식 및 예측 프레임워크 개발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센서 데이터와 발열 모델을 결합해 모터의 현재 열 상태를 실시간으로 추정, 미래 발열 누적을 예측할 수 있는 모델을 구현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선제적 발열 관리를 위한 기반 마련 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발열 인식을 통한 장기 동작 계획 제안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MPC, RL Planner을 활용해 발열 상태와 미래 발열을 예측해 동작을 계획함.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장기 운용 중 발생할 수 있는 과열을 사전에 완화하고, 작업 수행과 안정성 간 균형을 유지하도록 설계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AutoNum type="arabicPeriod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장기 운용 안정성 향상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-"/>
            </a:pPr>
            <a:r>
              <a:rPr lang="ko" sz="1800">
                <a:solidFill>
                  <a:srgbClr val="0D0D0D"/>
                </a:solidFill>
                <a:highlight>
                  <a:srgbClr val="FFFFFF"/>
                </a:highlight>
              </a:rPr>
              <a:t>과열로 인한 모터 제한 횟수 감소</a:t>
            </a:r>
            <a:endParaRPr sz="1800">
              <a:solidFill>
                <a:srgbClr val="0D0D0D"/>
              </a:solidFill>
              <a:highlight>
                <a:srgbClr val="FFFFFF"/>
              </a:highlight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87" name="Google Shape;187;p25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type="title"/>
          </p:nvPr>
        </p:nvSpPr>
        <p:spPr>
          <a:xfrm>
            <a:off x="235500" y="2233450"/>
            <a:ext cx="8520600" cy="6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3000"/>
              <a:t>2-</a:t>
            </a:r>
            <a:endParaRPr b="1" sz="3000"/>
          </a:p>
        </p:txBody>
      </p:sp>
      <p:sp>
        <p:nvSpPr>
          <p:cNvPr id="193" name="Google Shape;193;p26"/>
          <p:cNvSpPr/>
          <p:nvPr/>
        </p:nvSpPr>
        <p:spPr>
          <a:xfrm>
            <a:off x="245225" y="2884850"/>
            <a:ext cx="8520600" cy="25200"/>
          </a:xfrm>
          <a:prstGeom prst="rect">
            <a:avLst/>
          </a:prstGeom>
          <a:gradFill>
            <a:gsLst>
              <a:gs pos="0">
                <a:srgbClr val="1C4587"/>
              </a:gs>
              <a:gs pos="51000">
                <a:srgbClr val="006794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525" y="174700"/>
            <a:ext cx="1813099" cy="3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6"/>
          <p:cNvSpPr txBox="1"/>
          <p:nvPr/>
        </p:nvSpPr>
        <p:spPr>
          <a:xfrm>
            <a:off x="3600" y="4899350"/>
            <a:ext cx="9144000" cy="244200"/>
          </a:xfrm>
          <a:prstGeom prst="rect">
            <a:avLst/>
          </a:prstGeom>
          <a:gradFill>
            <a:gsLst>
              <a:gs pos="0">
                <a:srgbClr val="1C4587"/>
              </a:gs>
              <a:gs pos="96000">
                <a:srgbClr val="006794"/>
              </a:gs>
              <a:gs pos="100000">
                <a:srgbClr val="6D9EEB"/>
              </a:gs>
            </a:gsLst>
            <a:lin ang="0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196" name="Google Shape;196;p26"/>
          <p:cNvSpPr txBox="1"/>
          <p:nvPr/>
        </p:nvSpPr>
        <p:spPr>
          <a:xfrm>
            <a:off x="6479075" y="4888550"/>
            <a:ext cx="2668800" cy="2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ko" sz="750">
                <a:solidFill>
                  <a:schemeClr val="lt1"/>
                </a:solidFill>
              </a:rPr>
              <a:t>Copyright 2024 Global School of Media</a:t>
            </a:r>
            <a:endParaRPr b="1" sz="7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