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5C43-2760-4623-973E-A80B50912737}">
  <a:tblStyle styleId="{F2895C43-2760-4623-973E-A80B509127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2f1416b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2f1416b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dd4321e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dd4321e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고장에 관한 TASK 4가지로 구성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1. 모터 과열 (모터 출력 저하)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2. 실제 모터 고장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3. 모터 출력 저하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4. 모터 잠김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dd4321e5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dd4321e5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dd4321e5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dd4321e5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dd4321e5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dd4321e5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기존의 Domain Radomization과 어떤 차별점이 있는건데?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누적되는 발열 리스크에 Agent가 대응하는 방법?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dd4321e5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dd4321e5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기존의 Domain Radomization과 어떤 차별점이 있는건데?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dd4321e5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dd4321e5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기존의 Domain Radomization과 어떤 차별점이 있는건데?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dd4321e5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dd4321e5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과열 상황으로 인해 해당 모션을 위한 토크가 부족할 때, Agent가 다른 모터를 더 사용하고, 혹은 짧게 움직이는 방시, 느리게 움직이는 방식을 스스로 학습해 더욱 오래 해당 정책을 유지하는데에 초점을 맞춘 모델인 점에 차별점이 있다.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f093f2e12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f093f2e12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과열 상황으로 인해 해당 모션을 위한 토크가 부족할 때, Agent가 다른 모터를 더 사용하고, 혹은 짧게 움직이는 방시, 느리게 움직이는 방식을 스스로 학습해 더욱 오래 해당 정책을 유지하는데에 초점을 맞춘 모델인 점에 차별점이 있다.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dd4321e5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dd4321e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ddbe97e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ddbe97e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Ploss: </a:t>
            </a:r>
            <a:r>
              <a:rPr lang="ko"/>
              <a:t>손실 전략, 권선에서의 저항 손실이 발열의 주요 원인, 전력 차이를 발열로 가정하는 것은 타당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Pin: 입력 전력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Pout: 기계적인 출력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\eta: 효율성, 에타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dd4321e5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dd4321e5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r>
              <a:rPr lang="ko"/>
              <a:t>차 열 모델은 복잡한 시스템의 열적 거동을 이해하고, 열 관리 전략을 수립하는 데 유용한 도구, 모델의 단순화로 인해 실제 현상과 차이가 발생할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전자기기 등에서의 온도 예측에 매우 널리 사용된다.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t: torque(돌림힘)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w: angular velocity(각속도)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e-ta: efficiency(효율)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f093f2e12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f093f2e12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실제 모터의 에너지 효율을 학습에 추가할 수 있으므로, sim2real gap을 줄이는데 도움이 될 것이다.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ddbe97ef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ddbe97ef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1차 열 모델은 복잡한 시스템의 열적 거동을 이해하고, 열 관리 전략을 수립하는 데 유용한 도구, 모델의 단순화로 인해 실제 현상과 차이가 발생할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전자기기 등에서의 온도 예측에 매우 널리 사용된다.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 변화율을 다음과 계산된다.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T: 모터의 현재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Tambient: 실내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C: 열용량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h: 냉각 계수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열 용량으로 나누어 주었기 때문에 단위가 섭씨로 계산된다.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온도의 이산 시간은 다음과 같이 업데이트 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$$\Delta t$$: 시뮬레이션 주기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ddbe97ef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ddbe97ef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T_{max}: </a:t>
            </a:r>
            <a:r>
              <a:rPr lang="ko"/>
              <a:t>완전 차단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T: 현재 모터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T_{th}: 토크 감소 시작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T_{cmd}: 명령 토크 -&gt; 시뮬레이션 시 계산된 토크 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T_{out}: 실제 출력 토크 -&gt;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T_{rated}: 낼 수 있는 최대 토크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\alpha(T): 온도 기반 derating 계수(0~1)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모터의 물리 적인 한계를 단계적으로 표현함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최대 토크 제한의 상관관계, MuJoCO에 토크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ddbe97e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ddbe97e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방정식을 코드로 구현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ddbe97ef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ddbe97ef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1차 열 모델은 복잡한 시스템의 열적 거동을 이해하고, 열 관리 전략을 수립하는 데 유용한 도구, 모델의 단순화로 인해 실제 현상과 차이가 발생할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전자기기 등에서의 온도 예측에 매우 널리 사용된다.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 변화율을 다음과 계산된다.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T: 모터의 현재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Tambient: 실내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C: 열용량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h: 냉각 계수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열 용량으로 나누어 주었기 때문에 단위가 섭씨로 계산된다.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온도의 이산 시간은 다음과 같이 업데이트 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$$\Delta t$$: 시뮬레이션 주기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ddbe97ef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6ddbe97ef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1차 열 모델은 복잡한 시스템의 열적 거동을 이해하고, 열 관리 전략을 수립하는 데 유용한 도구, 모델의 단순화로 인해 실제 현상과 차이가 발생할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전자기기 등에서의 온도 예측에 매우 널리 사용된다.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 변화율을 다음과 계산된다.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T: 모터의 현재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Tambient: 실내 온도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C: 열용량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h: 냉각 계수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열 용량으로 나누어 주었기 때문에 단위가 섭씨로 계산된다.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온도의 이산 시간은 다음과 같이 업데이트 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$$\Delta t$$: 시뮬레이션 주기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ddbe97ef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ddbe97ef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ddbe97ef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ddbe97ef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방정식을 코드로 구현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ddbe97ef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ddbe97ef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ddbe97ef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ddbe97ef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ddbe97ef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ddbe97ef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ddbe97ef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ddbe97ef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f093f2e12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f093f2e12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hyperlink" Target="http://drive.google.com/file/d/1FukI7hM7iS_qTG2b25KQ4oQdpR0fajD_/view" TargetMode="External"/><Relationship Id="rId6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www.maxongroup.com/medias/sys_master/8815460712478.pdf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hyperlink" Target="https://emanual.robotis.com/docs/kr/dxl/x/xc430-w240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hyperlink" Target="https://www.kollmorgen.com/en-us/blogs/motor-derating-due-to-high-ambient-temperatures?utm_source=chatgpt.com" TargetMode="External"/><Relationship Id="rId7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rxiv.org/abs/2502.05817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www.youtube.com/watch?v=w21ngs6aL08" TargetMode="External"/><Relationship Id="rId6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ieeexplore.ieee.org/stamp/stamp.jsp?tp=&amp;arnumber=1030525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2025-07-15</a:t>
            </a:r>
            <a:endParaRPr b="1" sz="3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July 14,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Index</a:t>
            </a:r>
            <a:endParaRPr b="1" i="1" sz="25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개요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문제 정의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DR와의 차별점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Servo motor thermal simulation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구현 방안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기대효과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관련 연구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개요</a:t>
            </a:r>
            <a:endParaRPr b="1" sz="3000"/>
          </a:p>
        </p:txBody>
      </p:sp>
      <p:sp>
        <p:nvSpPr>
          <p:cNvPr id="78" name="Google Shape;78;p15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개요</a:t>
            </a:r>
            <a:endParaRPr b="1" i="1" sz="2500"/>
          </a:p>
        </p:txBody>
      </p:sp>
      <p:sp>
        <p:nvSpPr>
          <p:cNvPr id="87" name="Google Shape;87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robot이 특정 task를 잘 수행하는 것 또한 중요하지만, 장기적인 안정성 또한 고려되어야 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지금의 시뮬레이션에서는 이상적인 motor 상황에 너무 과적합되어 있다.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누적된 사용(발열)으로 인한 motor의 torque 감소를 시뮬레이션 하면 sim to real gap을 줄이는데 유용할 것이다.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추가로 로봇의 에너지 효율성을 개선할 수 있을 것이다.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따라서 Heat2Torque simulation을 제안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아이디어</a:t>
            </a:r>
            <a:endParaRPr b="1" i="1" sz="2500"/>
          </a:p>
        </p:txBody>
      </p:sp>
      <p:sp>
        <p:nvSpPr>
          <p:cNvPr id="97" name="Google Shape;97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다리를 다쳐도 절뚝거리며 이동하는 동물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이동에 제약이 있지만, 아프지 않은 쪽의 부위를 이용해 이동한다.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ToddlerBot의 walking RL 정책 실행시, servo motor의 overload 로 인한 토크 감소와 기능 정지로 19분 이후 Fall Count 증가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Char char="-"/>
            </a:pP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기능의 문제 없이 더 오래</a:t>
            </a:r>
            <a:b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동작하는 방법은 없는가?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Char char="-"/>
            </a:pP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누적되는 risk에 대응하기</a:t>
            </a:r>
            <a:b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위한 방법?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2101" y="2702707"/>
            <a:ext cx="1813100" cy="211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endurance_repair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8844" y="2702700"/>
            <a:ext cx="3755155" cy="21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문제 정의</a:t>
            </a:r>
            <a:endParaRPr b="1" sz="3000"/>
          </a:p>
        </p:txBody>
      </p:sp>
      <p:sp>
        <p:nvSpPr>
          <p:cNvPr id="109" name="Google Shape;109;p18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문제 정의</a:t>
            </a:r>
            <a:endParaRPr b="1" i="1" sz="2500"/>
          </a:p>
        </p:txBody>
      </p:sp>
      <p:sp>
        <p:nvSpPr>
          <p:cNvPr id="118" name="Google Shape;118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모터는 지속적인 동작 중 내부 발열이 누적되며, 일정 온도를 초과하면 보호 회로를 통해 토크 출력이 감소하거나 동작이 정지된다.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그러나 일반적인 RL 시뮬레이션 환경에서는 모터의 온도 특성을 반영하지 않고, 이상적인 상황을 가정하기 때문에, Sim-to-Real Gap이 시간이 지남에 따라 커진다는 문제점이 있다.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시간이 지남에 따라 넘어지는 횟수가 증가하는 ToddlerBot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모터의 온도 축적 특성을 시뮬레이션 하고, 이를 기반으로한 보상 구조를 설계해 gap을 최소화 하고 안정적, 효율적인 Agent를 학습시키는 방법을 제안한다.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300"/>
              <a:t>Domain Randomization vs Thermal-aware Policy Learning</a:t>
            </a:r>
            <a:endParaRPr b="1" i="1" sz="2300"/>
          </a:p>
        </p:txBody>
      </p:sp>
      <p:sp>
        <p:nvSpPr>
          <p:cNvPr id="128" name="Google Shape;128;p2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245225" y="139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{F2895C43-2760-4623-973E-A80B50912737}</a:tableStyleId>
              </a:tblPr>
              <a:tblGrid>
                <a:gridCol w="1093200"/>
                <a:gridCol w="3017550"/>
                <a:gridCol w="4409850"/>
              </a:tblGrid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항목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Domain Randomization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Thermal-aware Policy Learning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목적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다양한 환경에 대한 정책 학습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과열 상황에 대한 적응하고, 예측하는 정책 학습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랜덤 대상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Physics Param(질량, 마찰, 토크 등)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열 상태, 온도 변화율, 발열 시 제약 조건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시간 스케일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에피소드 초기부터 적용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시간 누적에 따른 문제 상황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정책 반응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에피소드 마다 달라지는 환경에 적응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열 누적 상황에 따라 행동 조정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역할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환경 불확실성 반영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 고장 </a:t>
                      </a:r>
                      <a:r>
                        <a:rPr lang="ko"/>
                        <a:t>메커니즘(토크 감소, 모터 제한 등) 반영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보상 설계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task 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발열에 대한 보상(발열량이 크면 보상 감소 등)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300"/>
              <a:t>Domain Randomization</a:t>
            </a:r>
            <a:r>
              <a:rPr b="1" lang="ko" sz="2300"/>
              <a:t>와의 확장 결합</a:t>
            </a:r>
            <a:endParaRPr b="1" i="1" sz="2300"/>
          </a:p>
        </p:txBody>
      </p:sp>
      <p:sp>
        <p:nvSpPr>
          <p:cNvPr id="138" name="Google Shape;138;p2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초기 모터 온도 랜덤화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냉각 계수 랜덤화 (냉각이 잘 안되는 환경? 잘 되는 환경?)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 에너지 효율 랜덤화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온도에 따른 토크 감소율 랜덤화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. . 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300"/>
              <a:t>Algorithm으로 관리하는 것과의 차별점?</a:t>
            </a:r>
            <a:endParaRPr b="1" i="1" sz="2300"/>
          </a:p>
        </p:txBody>
      </p:sp>
      <p:sp>
        <p:nvSpPr>
          <p:cNvPr id="148" name="Google Shape;148;p2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단순히 특정 이상 온도로 올라가면 동작을 멈추게 할 수 있지만, 냉각이 될 때까지 Agent가 멈춰야하는 문제점이 있다.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overload로 인해 예상한 토크가 부족한 상황을 극복하는 것에 초점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300"/>
              <a:t>기존의 에너지 효율성 보상 함수</a:t>
            </a:r>
            <a:endParaRPr b="1" i="1" sz="2300"/>
          </a:p>
        </p:txBody>
      </p:sp>
      <p:sp>
        <p:nvSpPr>
          <p:cNvPr id="158" name="Google Shape;158;p2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Toddlerbot에서 사용하는 보상 함수는 system 총량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00" y="2282675"/>
            <a:ext cx="8520601" cy="179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Servo motor thermal simulation</a:t>
            </a:r>
            <a:endParaRPr b="1" sz="3000"/>
          </a:p>
        </p:txBody>
      </p:sp>
      <p:sp>
        <p:nvSpPr>
          <p:cNvPr id="169" name="Google Shape;169;p24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모터의 발열량</a:t>
            </a:r>
            <a:endParaRPr b="1" i="1" sz="2500"/>
          </a:p>
        </p:txBody>
      </p:sp>
      <p:sp>
        <p:nvSpPr>
          <p:cNvPr id="178" name="Google Shape;178;p2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모터의 발열량은 입력 전력에서 기계적인 출력을 빼어 구한다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입력 전력과 출력의 차이를 발열로 가정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권선에서 발생하는 열손실이 주를 이룸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Mujoco에서 Torque, velocity를 구할 수 있음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maxon motor - key information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7150" y="2738300"/>
            <a:ext cx="46863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7577" y="3656152"/>
            <a:ext cx="4061500" cy="8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입력 전력과 출력 전력</a:t>
            </a:r>
            <a:endParaRPr b="1" i="1" sz="2500"/>
          </a:p>
        </p:txBody>
      </p:sp>
      <p:sp>
        <p:nvSpPr>
          <p:cNvPr id="190" name="Google Shape;190;p2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00" y="1709750"/>
            <a:ext cx="1996738" cy="455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500" y="2417256"/>
            <a:ext cx="1760903" cy="86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7930" y="2469413"/>
            <a:ext cx="1760900" cy="760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5225" y="3281975"/>
            <a:ext cx="4326775" cy="951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모터의 효율성</a:t>
            </a:r>
            <a:endParaRPr b="1" i="1" sz="2500"/>
          </a:p>
        </p:txBody>
      </p:sp>
      <p:sp>
        <p:nvSpPr>
          <p:cNvPr id="203" name="Google Shape;203;p2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225" y="1300025"/>
            <a:ext cx="4239849" cy="34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4705525" y="1711825"/>
            <a:ext cx="2611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u="sng">
                <a:solidFill>
                  <a:schemeClr val="hlink"/>
                </a:solidFill>
                <a:hlinkClick r:id="rId5"/>
              </a:rPr>
              <a:t>참고자료 - XC430 spec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1차 열 모델</a:t>
            </a:r>
            <a:endParaRPr b="1" i="1" sz="2500"/>
          </a:p>
        </p:txBody>
      </p:sp>
      <p:sp>
        <p:nvSpPr>
          <p:cNvPr id="214" name="Google Shape;214;p2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242" y="1553900"/>
            <a:ext cx="3526431" cy="810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225" y="2510938"/>
            <a:ext cx="5817325" cy="83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과열로 인한 토크 감소, 최대 토크 감소</a:t>
            </a:r>
            <a:endParaRPr b="1" i="1" sz="2500"/>
          </a:p>
        </p:txBody>
      </p:sp>
      <p:sp>
        <p:nvSpPr>
          <p:cNvPr id="225" name="Google Shape;225;p2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900" y="1536925"/>
            <a:ext cx="69532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500" y="2994300"/>
            <a:ext cx="5864650" cy="11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>
            <a:off x="1466875" y="4344225"/>
            <a:ext cx="54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u="sng">
                <a:solidFill>
                  <a:schemeClr val="hlink"/>
                </a:solidFill>
                <a:hlinkClick r:id="rId6"/>
              </a:rPr>
              <a:t>KOLLMORGEN - derating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1847" y="2739347"/>
            <a:ext cx="3191775" cy="183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구현 방안</a:t>
            </a:r>
            <a:endParaRPr b="1" sz="3000"/>
          </a:p>
        </p:txBody>
      </p:sp>
      <p:sp>
        <p:nvSpPr>
          <p:cNvPr id="238" name="Google Shape;238;p30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Simple pipeline</a:t>
            </a:r>
            <a:endParaRPr b="1" i="1" sz="2500"/>
          </a:p>
        </p:txBody>
      </p:sp>
      <p:sp>
        <p:nvSpPr>
          <p:cNvPr id="247" name="Google Shape;247;p3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556025" y="2511088"/>
            <a:ext cx="1701900" cy="102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Policy step</a:t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4241975" y="2511075"/>
            <a:ext cx="1701900" cy="102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Temperature Step</a:t>
            </a:r>
            <a:endParaRPr/>
          </a:p>
        </p:txBody>
      </p:sp>
      <p:cxnSp>
        <p:nvCxnSpPr>
          <p:cNvPr id="253" name="Google Shape;253;p31"/>
          <p:cNvCxnSpPr>
            <a:stCxn id="251" idx="3"/>
            <a:endCxn id="252" idx="1"/>
          </p:cNvCxnSpPr>
          <p:nvPr/>
        </p:nvCxnSpPr>
        <p:spPr>
          <a:xfrm>
            <a:off x="2257925" y="3023488"/>
            <a:ext cx="198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31"/>
          <p:cNvSpPr txBox="1"/>
          <p:nvPr/>
        </p:nvSpPr>
        <p:spPr>
          <a:xfrm>
            <a:off x="2257925" y="2202300"/>
            <a:ext cx="194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Generate Torque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angular velocity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5" name="Google Shape;255;p31"/>
          <p:cNvCxnSpPr>
            <a:stCxn id="252" idx="3"/>
            <a:endCxn id="256" idx="0"/>
          </p:cNvCxnSpPr>
          <p:nvPr/>
        </p:nvCxnSpPr>
        <p:spPr>
          <a:xfrm>
            <a:off x="5943875" y="3023475"/>
            <a:ext cx="1793400" cy="51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1"/>
          <p:cNvSpPr txBox="1"/>
          <p:nvPr/>
        </p:nvSpPr>
        <p:spPr>
          <a:xfrm>
            <a:off x="5907300" y="2017800"/>
            <a:ext cx="284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Torque Derating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or Motor Shutdown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(Update </a:t>
            </a:r>
            <a:r>
              <a:rPr lang="ko" sz="1200">
                <a:solidFill>
                  <a:schemeClr val="dk2"/>
                </a:solidFill>
              </a:rPr>
              <a:t>model.actuator_forcerange)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6886200" y="3535875"/>
            <a:ext cx="1701900" cy="102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MuJoCo Step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1차 열 모델 시뮬레이션 결과 MuJoCo 적용 방안</a:t>
            </a:r>
            <a:endParaRPr b="1" i="1" sz="2500"/>
          </a:p>
        </p:txBody>
      </p:sp>
      <p:sp>
        <p:nvSpPr>
          <p:cNvPr id="263" name="Google Shape;263;p3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최대 토크만을 제한한다.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최대 토크보다 적은 토크는 생성에 문제가 없을 것이라고 가정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정책에서 생성한 토크 값[-1, 1]을 스케일링 하여 실제 출력 토크를 계산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Brax 정책에서 생성된 생성된 토크 값을 모터의 최대 토크로 역스케일링(normalization) 하고, 다시 derating된 값으로 스케일링 해서 시뮬레이션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Agent 학습 방향</a:t>
            </a:r>
            <a:endParaRPr b="1" i="1" sz="2500"/>
          </a:p>
        </p:txBody>
      </p:sp>
      <p:sp>
        <p:nvSpPr>
          <p:cNvPr id="273" name="Google Shape;273;p3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과열로 인한 토크 감소에 대응하는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모터의 실제 효율성을 시뮬레이션에 적용, sim2real gap 줄이는데 도움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기대효과</a:t>
            </a:r>
            <a:endParaRPr b="1" sz="3000"/>
          </a:p>
        </p:txBody>
      </p:sp>
      <p:sp>
        <p:nvSpPr>
          <p:cNvPr id="283" name="Google Shape;283;p34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기대효과</a:t>
            </a:r>
            <a:endParaRPr b="1" i="1" sz="2500"/>
          </a:p>
        </p:txBody>
      </p:sp>
      <p:sp>
        <p:nvSpPr>
          <p:cNvPr id="292" name="Google Shape;292;p3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overload 상황을 학습해 토크 감소 상황을 극복하는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발열시 냉각하는 방법을 학습하는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전력 손실을 최소화하는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온도 변화율을 최소화하는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누적된 총 열량을 최소화하며 task를 수행하는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주변 온도에 따른 토크 감소에 대응하는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제철소, 우주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적용 Task 및 성능 비교</a:t>
            </a:r>
            <a:endParaRPr b="1" sz="2500"/>
          </a:p>
        </p:txBody>
      </p:sp>
      <p:sp>
        <p:nvSpPr>
          <p:cNvPr id="302" name="Google Shape;302;p3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ToddlerBot에 있는 정책에서 Thermal-reward를 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추가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, 해당 정책을 반복 수행했을 때, 어떤 모델이 더 오래 지속되는지를 타이머로 비교 실험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시뮬레이션에서 과열 상황을 부여하고, 각 모델(original, ours)를 비교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관련 연구</a:t>
            </a:r>
            <a:endParaRPr b="1" sz="3000"/>
          </a:p>
        </p:txBody>
      </p:sp>
      <p:sp>
        <p:nvSpPr>
          <p:cNvPr id="312" name="Google Shape;312;p37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DreamFLEX</a:t>
            </a:r>
            <a:r>
              <a:rPr b="1" lang="ko" sz="2000"/>
              <a:t>: Learning Fault-Aware Quadrupedal Locomotion Controller for Anomaly Situation in Rough Terrains</a:t>
            </a:r>
            <a:endParaRPr b="1" sz="2000"/>
          </a:p>
        </p:txBody>
      </p:sp>
      <p:sp>
        <p:nvSpPr>
          <p:cNvPr id="321" name="Google Shape;321;p3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험지에서의 이상 상황에 대한 결함을 다음으로 정의하고, 이를 학습해 sim2real gap을 최소화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잠긴 관절: 외부 충격 등으로 인해 특정 관절이 고정되거나 움직임 범위 제한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약화된 모터: 과열, 전력 부족 등으로 특정 관절 모터가 정상적인 토크 발생 제한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D0D0D"/>
                </a:solidFill>
                <a:highlight>
                  <a:srgbClr val="FFFFFF"/>
                </a:highlight>
              </a:rPr>
              <a:t>*  </a:t>
            </a:r>
            <a:r>
              <a:rPr lang="ko" sz="1600">
                <a:solidFill>
                  <a:srgbClr val="0D0D0D"/>
                </a:solidFill>
                <a:highlight>
                  <a:srgbClr val="FFFFFF"/>
                </a:highlight>
              </a:rPr>
              <a:t>빨간색 원은 결함이 생긴 관절을 의미</a:t>
            </a:r>
            <a:endParaRPr sz="16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descr="Video for ICRA2025 submission&#10;&#10;DreamFLEX: Learning Fault-Aware Quadrupedal Locomotion Controller for Anomaly Situation in Rough Terrains" id="326" name="Google Shape;326;p38" title="Learning Fault-Aware Quadrupedal Locomotion Controller for Anomaly Situation in Rough Terrains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2750" y="2444775"/>
            <a:ext cx="4073350" cy="22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FT-Net</a:t>
            </a:r>
            <a:r>
              <a:rPr b="1" lang="ko" sz="2000"/>
              <a:t>: Learning Failure Recovery and Fault-Tolerant Locomotion for Quadruped Robots</a:t>
            </a:r>
            <a:endParaRPr b="1" sz="2000"/>
          </a:p>
        </p:txBody>
      </p:sp>
      <p:sp>
        <p:nvSpPr>
          <p:cNvPr id="332" name="Google Shape;332;p3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36" name="Google Shape;336;p3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혹독하고 위험한 환경에서 발생할 수 있는 로봇의 내고장성을 고려해야한다.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FT-Net을 통해 고장 관리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실제 토크에 고장 계수를 곱하여 토크를 계산하고 이를 시뮬레이션 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다양한 고장 상황에서도 보행할 수 있는 범용적인 정책을 학습하는 것이 목표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337" name="Google Shape;33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350" y="2845524"/>
            <a:ext cx="4524375" cy="1547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